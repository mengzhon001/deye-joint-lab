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AAB15163.xml" ContentType="application/vnd.ms-powerpoint.comments+xml"/>
  <Override PartName="/ppt/notesSlides/notesSlide2.xml" ContentType="application/vnd.openxmlformats-officedocument.presentationml.notesSlide+xml"/>
  <Override PartName="/ppt/comments/modernComment_118_30445583.xml" ContentType="application/vnd.ms-powerpoint.comments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98" r:id="rId1"/>
    <p:sldMasterId id="2147483715" r:id="rId2"/>
  </p:sldMasterIdLst>
  <p:notesMasterIdLst>
    <p:notesMasterId r:id="rId17"/>
  </p:notesMasterIdLst>
  <p:handoutMasterIdLst>
    <p:handoutMasterId r:id="rId18"/>
  </p:handoutMasterIdLst>
  <p:sldIdLst>
    <p:sldId id="256" r:id="rId3"/>
    <p:sldId id="282" r:id="rId4"/>
    <p:sldId id="257" r:id="rId5"/>
    <p:sldId id="258" r:id="rId6"/>
    <p:sldId id="280" r:id="rId7"/>
    <p:sldId id="259" r:id="rId8"/>
    <p:sldId id="281" r:id="rId9"/>
    <p:sldId id="263" r:id="rId10"/>
    <p:sldId id="261" r:id="rId11"/>
    <p:sldId id="262" r:id="rId12"/>
    <p:sldId id="264" r:id="rId13"/>
    <p:sldId id="265" r:id="rId14"/>
    <p:sldId id="266" r:id="rId15"/>
    <p:sldId id="27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1EEE6F-16F0-3441-892A-1A1EE4CF95C8}">
          <p14:sldIdLst>
            <p14:sldId id="256"/>
          </p14:sldIdLst>
        </p14:section>
        <p14:section name="Untitled Section" id="{03F32F2C-3603-BD44-B9B8-859B8203F6DD}">
          <p14:sldIdLst>
            <p14:sldId id="282"/>
            <p14:sldId id="257"/>
            <p14:sldId id="258"/>
            <p14:sldId id="280"/>
            <p14:sldId id="259"/>
            <p14:sldId id="281"/>
            <p14:sldId id="263"/>
            <p14:sldId id="261"/>
            <p14:sldId id="262"/>
            <p14:sldId id="264"/>
            <p14:sldId id="265"/>
            <p14:sldId id="266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CA71BE-ADB1-7479-23A1-092261895838}" name="Bao Te (Assoc Prof)" initials="TB" userId="S::baote@staff.main.ntu.edu.sg::76dc7591-3d9d-4271-96ac-8cdd45f588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7264"/>
  </p:normalViewPr>
  <p:slideViewPr>
    <p:cSldViewPr snapToGrid="0">
      <p:cViewPr varScale="1">
        <p:scale>
          <a:sx n="89" d="100"/>
          <a:sy n="89" d="100"/>
        </p:scale>
        <p:origin x="192" y="8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omments/modernComment_102_AAB1516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4331E2D-520C-49C6-ADE3-074763D376DA}" authorId="{B7CA71BE-ADB1-7479-23A1-092261895838}" status="resolved" created="2026-01-19T15:44:22.203" complete="100000">
    <pc:sldMkLst xmlns:pc="http://schemas.microsoft.com/office/powerpoint/2013/main/command">
      <pc:docMk/>
      <pc:sldMk cId="2863747427" sldId="258"/>
    </pc:sldMkLst>
    <p188:txBody>
      <a:bodyPr/>
      <a:lstStyle/>
      <a:p>
        <a:r>
          <a:rPr lang="en-US"/>
          <a:t>Enhance influence语气有点弱，general impact更好一点。</a:t>
        </a:r>
      </a:p>
    </p188:txBody>
  </p188:cm>
</p188:cmLst>
</file>

<file path=ppt/comments/modernComment_118_3044558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E19187-7250-43B5-9F51-0074E3F6ED38}" authorId="{B7CA71BE-ADB1-7479-23A1-092261895838}" status="resolved" created="2026-01-19T15:44:57.613" complete="100000">
    <pc:sldMkLst xmlns:pc="http://schemas.microsoft.com/office/powerpoint/2013/main/command">
      <pc:docMk/>
      <pc:sldMk cId="809784707" sldId="280"/>
    </pc:sldMkLst>
    <p188:txBody>
      <a:bodyPr/>
      <a:lstStyle/>
      <a:p>
        <a:r>
          <a:rPr lang="en-US"/>
          <a:t>Not commercial这个不用写，隐含即可。</a:t>
        </a:r>
      </a:p>
    </p188:txBody>
  </p188:cm>
  <p188:cm id="{FD109735-0693-4B22-B1A5-9854D9319747}" authorId="{B7CA71BE-ADB1-7479-23A1-092261895838}" status="resolved" created="2026-01-20T00:23:45.594" complete="100000">
    <pc:sldMkLst xmlns:pc="http://schemas.microsoft.com/office/powerpoint/2013/main/command">
      <pc:docMk/>
      <pc:sldMk cId="809784707" sldId="280"/>
    </pc:sldMkLst>
    <p188:txBody>
      <a:bodyPr/>
      <a:lstStyle/>
      <a:p>
        <a:r>
          <a:rPr lang="en-US"/>
          <a:t>多用正面表达，少用负面表达。比如，on top of commercial solution provided by service provider, university can provide…… 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814916-828C-8D19-0B7E-DC60CB7C91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8CE18-78B8-7F40-DF56-30E288DDDF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4CDD5-D1C1-1445-B516-A4647083DB4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2612B-7AA0-111C-BFB3-00F3657492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9AB61-E92E-61C7-A532-C9DBDEC544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321C5-3185-F14D-BD89-DC4503255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315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BE4BD-8E31-364C-93C7-ED3743C7560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32B2B-CD96-AE40-8468-A2BD35B75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725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32B2B-CD96-AE40-8468-A2BD35B750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27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32B2B-CD96-AE40-8468-A2BD35B750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6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32B2B-CD96-AE40-8468-A2BD35B750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9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42B8-F8DC-D54A-8391-171F8954DA25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6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6201-9B43-CB4F-A325-3EFF182680A4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647" y="6041361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8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B1BA-BE95-BC40-BED7-34D6A130A6BF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66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62F2-6B66-B54F-A376-F4FE30A0955C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6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78B09-8668-A74D-BB01-0D14AB3DF6C7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0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4A28C-DA0E-DF40-B67D-C42CDFB7E246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66351" y="6047049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79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FBD76-7341-1B4A-99DF-5BF2C4EFF194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02927" y="6028761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2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693B-3273-5543-AEE9-4A9FE2BDF249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E0A2-9C76-2748-9414-8CD6C8AE42A3}" type="datetime1">
              <a:rPr lang="en-SG" smtClean="0"/>
              <a:t>20/1/26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B177-FAA6-5540-9F38-EDB2EEC54DA2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40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A5D7-3D60-0F4A-A90E-1902BAFDFD4D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3231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A31F-2836-754E-8018-01C8CA688DA9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79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87C8-B12B-F143-BCED-8F0131D81F44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548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ED56-2973-D549-8EE3-DE214AFFE0E0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79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18EFD-1482-4F47-B1E7-79596AD9D257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722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AF2E-346C-A841-9B9E-913C7DDA0185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02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2F70-797B-5C21-4AC9-7C89BA509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43E35-871A-5EDA-B94C-E0BE4E494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56CE-ABF4-11D4-F221-AB1D1CE4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D4A5-4A9E-1B5F-2948-88DE4EA9C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AC45F-B08E-0874-BBE5-6E8B2994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42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96F3-EA76-C032-E22A-4668F8FD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A9F5E-0585-72D6-CB91-D24DD5CE0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B8438-0700-7CFA-270A-DB8B0A5A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FA8EE-788E-072C-289F-E50F708D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FACF3-0C99-6F2B-8597-6A4777C6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35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2370-E82D-F7A1-F7A2-FA351318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96ED6-924C-50C7-E8E5-EDBEE44E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A3A1-B03F-96A3-D6C9-9306E5ED7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5AE6D-5D3F-D612-C9A5-68417FE3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C2593-A5E5-3532-2896-137C6EFE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97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6DCA-E6C0-6205-3FB5-3897A385D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00728-E1A2-98BE-6364-9D8EA7654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CE702-3C1F-8634-9A61-CE879D3E3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99BB3-6967-F0D1-5D18-784D8D35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947F0-0E5F-FD55-27FC-479ABE6E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5462E-430B-63C8-CF7B-ED7075B9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78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F68C-4AD4-01A4-13E1-E1B6C865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65EBE-1862-2475-5318-8BB5F172B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720C8-2BCD-51F0-3CDE-47008B9B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196E1-19B2-169D-25B1-4C32C8835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FF725-DBA8-CD99-8E50-05FB97547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AA9C1-63E5-5EFF-2E99-99D22250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6D6F1-CCFD-F42C-AF40-A1BB70F1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4394A-6DB6-AF43-42F0-2E33556F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30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F432-CD69-4612-73E4-297E8470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8BFC6-8B31-14D2-291B-D32CA0E9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FFD01-9ED7-F1AB-2FD0-EF232FC8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EAFA8-18CD-2089-C732-41876743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270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93678-2F98-DEEC-F20E-769152A0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10D47-3C09-B833-6F31-6C8DE470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C7F1F-6316-968C-F29B-33BD5E30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689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B24E-E6FF-5760-B796-ED2A46DD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EB71-3245-7DF6-544D-6DF781CE4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B3900-059C-2013-9D43-8BBA3130D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230C8-4B65-CF3D-44B2-7CD20EFD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C818D-CF16-F922-E9FF-ED015526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ACC66-E44C-E3AF-9AC3-718EEC05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6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8C94-08B5-DB35-7201-32D94AB8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2E265B-422C-AD2C-CD04-A2099805C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6B5B2-595B-B87D-9173-9195186BF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CF24A-144D-F4D3-90B4-7E956295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00C31-D775-43A8-AC3A-CB1D370E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D286A-05F5-C4D0-8F97-33990C67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5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F18C-0889-029F-C46A-3607227B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80A3C-37B3-BB2C-3942-2A2FD1AAF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C6873-8B25-1AEA-07EC-21EDF1A4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7E18D-A45D-09EC-0684-CC340A55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F5F9E-C21E-8E67-D649-B22DCBE7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6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D004B-13B7-FB50-C8D5-BEFABAF0D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8D3D-438F-B075-08A8-46BAABCF8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811D8-C027-0EA6-BCF3-91A1A12A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D9C83-D09B-F809-064B-59AC9FD8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703AF-6108-B6C4-C811-3CC9D756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4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8D8E7-88C2-F749-84AF-F1B71A432488}" type="datetime1">
              <a:rPr lang="en-SG" smtClean="0"/>
              <a:t>20/1/26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13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D5D22-29B9-9946-8C4F-78F5D7965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347BD-9A80-EDF2-9963-B84FBD509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08ECF-8598-0A74-159A-BFF8E9EF0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D5D22-F9C9-3342-B841-9598ACC20CC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197A4-D463-4762-D687-F44A27F1E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8296A-AE80-F864-508B-D846A6BC5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8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AAB1516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3044558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5D65-EAE8-7FF1-7C95-219F1A735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477" y="1041400"/>
            <a:ext cx="8791575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NTU-DEYE Joint-Laboratory for Real-World Asset (RWA) Research Collaboration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9939A-5610-4169-A363-BD6447398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477" y="4435083"/>
            <a:ext cx="8373301" cy="2763033"/>
          </a:xfrm>
        </p:spPr>
        <p:txBody>
          <a:bodyPr/>
          <a:lstStyle/>
          <a:p>
            <a:pPr algn="l"/>
            <a:r>
              <a:rPr lang="en-US" dirty="0"/>
              <a:t>Building Explainable, Risk-Aware Decision Capability for Energy Asset Digitalization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354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22B1-7BEF-8716-CD4E-159D97BD3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46882-70F0-78E9-C8EC-3F26A1FCC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Pain Point</a:t>
            </a:r>
            <a:r>
              <a:rPr lang="en-US" altLang="ja-JP" b="1" dirty="0"/>
              <a:t>:</a:t>
            </a:r>
            <a:r>
              <a:rPr lang="ja-JP" altLang="en-US"/>
              <a:t> </a:t>
            </a:r>
            <a:r>
              <a:rPr lang="en-US" dirty="0"/>
              <a:t>The core challenge of Energy RWA is no longer the blockchain itself, but the </a:t>
            </a:r>
            <a:r>
              <a:rPr lang="en-US" b="1" dirty="0"/>
              <a:t>analytical</a:t>
            </a:r>
            <a:r>
              <a:rPr lang="en-US" dirty="0"/>
              <a:t> verification of physical data and the </a:t>
            </a:r>
            <a:r>
              <a:rPr lang="en-US" b="1" dirty="0"/>
              <a:t>structural</a:t>
            </a:r>
            <a:r>
              <a:rPr lang="en-US" dirty="0"/>
              <a:t> design of risk mitigation (e.g., robustness and stopping conditions).</a:t>
            </a:r>
          </a:p>
          <a:p>
            <a:endParaRPr lang="en-US" dirty="0"/>
          </a:p>
          <a:p>
            <a:r>
              <a:rPr lang="en-US" b="1" dirty="0"/>
              <a:t>Solution</a:t>
            </a:r>
            <a:r>
              <a:rPr lang="en-US" altLang="ja-JP" b="1" dirty="0"/>
              <a:t>:</a:t>
            </a:r>
            <a:r>
              <a:rPr lang="ja-JP" altLang="en-US"/>
              <a:t> </a:t>
            </a:r>
            <a:r>
              <a:rPr lang="en-US" altLang="ja-JP" dirty="0"/>
              <a:t>The Joint-</a:t>
            </a:r>
            <a:r>
              <a:rPr lang="en-US" dirty="0"/>
              <a:t>Lab delivers a triple-threat framework—</a:t>
            </a:r>
            <a:r>
              <a:rPr lang="en-US" b="1" dirty="0"/>
              <a:t>"AI + Digital Twin + Dynamic Financial Engineering"</a:t>
            </a:r>
            <a:r>
              <a:rPr lang="en-US" dirty="0"/>
              <a:t>—to ensure data integrity and protocol-level </a:t>
            </a:r>
            <a:r>
              <a:rPr lang="en-US" b="1" dirty="0"/>
              <a:t>structural robustness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Value</a:t>
            </a:r>
            <a:r>
              <a:rPr lang="en-US" altLang="ja-JP" b="1" dirty="0"/>
              <a:t>:</a:t>
            </a:r>
            <a:r>
              <a:rPr lang="ja-JP" altLang="en-US"/>
              <a:t> </a:t>
            </a:r>
            <a:r>
              <a:rPr lang="en-US" dirty="0"/>
              <a:t>Deye evolves from a hardware vendor into a </a:t>
            </a:r>
            <a:r>
              <a:rPr lang="en-US" b="1" dirty="0"/>
              <a:t>Green Finance Infrastructure Standard-Setter</a:t>
            </a:r>
            <a:r>
              <a:rPr lang="en-US" dirty="0"/>
              <a:t>, offering institutional-grade assets with programmable risk control.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8F45D-C57E-DBDE-F3D2-12AAEBD5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60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31350"/>
            <a:ext cx="8596668" cy="921026"/>
          </a:xfrm>
        </p:spPr>
        <p:txBody>
          <a:bodyPr>
            <a:normAutofit/>
          </a:bodyPr>
          <a:lstStyle/>
          <a:p>
            <a:r>
              <a:rPr lang="en-US" dirty="0"/>
              <a:t>Key Observations</a:t>
            </a:r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DAEB5-A50B-11A1-A57A-0368835A7A06}"/>
              </a:ext>
            </a:extLst>
          </p:cNvPr>
          <p:cNvSpPr txBox="1"/>
          <p:nvPr/>
        </p:nvSpPr>
        <p:spPr>
          <a:xfrm>
            <a:off x="1274204" y="1593729"/>
            <a:ext cx="9408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RWA challenges are no longer technical, BUT analytical and structural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06117-2DFD-D69E-3965-77A7323D572F}"/>
              </a:ext>
            </a:extLst>
          </p:cNvPr>
          <p:cNvSpPr txBox="1"/>
          <p:nvPr/>
        </p:nvSpPr>
        <p:spPr>
          <a:xfrm>
            <a:off x="3029965" y="2376606"/>
            <a:ext cx="5136815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Technology feasibility is largely proven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71E75E1-6079-9195-B6CC-CEB0925A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pic>
        <p:nvPicPr>
          <p:cNvPr id="22" name="Graphic 21" descr="Checkmark with solid fill">
            <a:extLst>
              <a:ext uri="{FF2B5EF4-FFF2-40B4-BE49-F238E27FC236}">
                <a16:creationId xmlns:a16="http://schemas.microsoft.com/office/drawing/2014/main" id="{EBE239E1-BC01-7A08-4184-1D516942A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6091" y="2252874"/>
            <a:ext cx="668225" cy="668225"/>
          </a:xfrm>
          <a:prstGeom prst="rect">
            <a:avLst/>
          </a:prstGeom>
        </p:spPr>
      </p:pic>
      <p:pic>
        <p:nvPicPr>
          <p:cNvPr id="24" name="Graphic 23" descr="Question Mark with solid fill">
            <a:extLst>
              <a:ext uri="{FF2B5EF4-FFF2-40B4-BE49-F238E27FC236}">
                <a16:creationId xmlns:a16="http://schemas.microsoft.com/office/drawing/2014/main" id="{C2B36ECC-C530-29ED-9044-9506A0A2D9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5639" y="4702345"/>
            <a:ext cx="561926" cy="56192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AE01BDA-85F0-4E4B-60BE-83F2239BA3AD}"/>
              </a:ext>
            </a:extLst>
          </p:cNvPr>
          <p:cNvSpPr txBox="1"/>
          <p:nvPr/>
        </p:nvSpPr>
        <p:spPr>
          <a:xfrm>
            <a:off x="1220766" y="4617940"/>
            <a:ext cx="1826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Asset and data credibility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2163B-55CF-B14C-DDD0-252FA142C7E7}"/>
              </a:ext>
            </a:extLst>
          </p:cNvPr>
          <p:cNvSpPr txBox="1"/>
          <p:nvPr/>
        </p:nvSpPr>
        <p:spPr>
          <a:xfrm>
            <a:off x="3846151" y="4702345"/>
            <a:ext cx="2960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Cash-flow uncertainty and downside risk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85396B-E409-9CF8-7E37-E599F2506231}"/>
              </a:ext>
            </a:extLst>
          </p:cNvPr>
          <p:cNvSpPr txBox="1"/>
          <p:nvPr/>
        </p:nvSpPr>
        <p:spPr>
          <a:xfrm>
            <a:off x="7620581" y="4705694"/>
            <a:ext cx="2796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Structural robustness and stopping conditions</a:t>
            </a:r>
          </a:p>
        </p:txBody>
      </p:sp>
      <p:pic>
        <p:nvPicPr>
          <p:cNvPr id="28" name="Graphic 27" descr="Question Mark with solid fill">
            <a:extLst>
              <a:ext uri="{FF2B5EF4-FFF2-40B4-BE49-F238E27FC236}">
                <a16:creationId xmlns:a16="http://schemas.microsoft.com/office/drawing/2014/main" id="{B29CEB1F-981F-BE55-1137-053E332AE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7374" y="4715092"/>
            <a:ext cx="561926" cy="561926"/>
          </a:xfrm>
          <a:prstGeom prst="rect">
            <a:avLst/>
          </a:prstGeom>
        </p:spPr>
      </p:pic>
      <p:pic>
        <p:nvPicPr>
          <p:cNvPr id="30" name="Graphic 29" descr="Question Mark with solid fill">
            <a:extLst>
              <a:ext uri="{FF2B5EF4-FFF2-40B4-BE49-F238E27FC236}">
                <a16:creationId xmlns:a16="http://schemas.microsoft.com/office/drawing/2014/main" id="{03147C5E-C0B8-858F-FB74-92B891233B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2631" y="4715092"/>
            <a:ext cx="561926" cy="561926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4F04E29-5602-4226-B2EC-B0D69CA1E4B6}"/>
              </a:ext>
            </a:extLst>
          </p:cNvPr>
          <p:cNvSpPr/>
          <p:nvPr/>
        </p:nvSpPr>
        <p:spPr>
          <a:xfrm>
            <a:off x="832261" y="4367485"/>
            <a:ext cx="10249027" cy="1673875"/>
          </a:xfrm>
          <a:prstGeom prst="roundRect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5550D4-DE51-D314-9A66-6E50F867592E}"/>
              </a:ext>
            </a:extLst>
          </p:cNvPr>
          <p:cNvSpPr txBox="1"/>
          <p:nvPr/>
        </p:nvSpPr>
        <p:spPr>
          <a:xfrm>
            <a:off x="2157843" y="5626054"/>
            <a:ext cx="7447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issues require </a:t>
            </a:r>
            <a:r>
              <a:rPr lang="en-US" b="1" dirty="0"/>
              <a:t>research-driven judgment</a:t>
            </a:r>
            <a:r>
              <a:rPr lang="en-US" dirty="0"/>
              <a:t>, not only engineering</a:t>
            </a:r>
          </a:p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5F64758-7435-81EB-DB24-F02058C48BCF}"/>
              </a:ext>
            </a:extLst>
          </p:cNvPr>
          <p:cNvCxnSpPr>
            <a:cxnSpLocks/>
            <a:stCxn id="35" idx="2"/>
            <a:endCxn id="38" idx="1"/>
          </p:cNvCxnSpPr>
          <p:nvPr/>
        </p:nvCxnSpPr>
        <p:spPr>
          <a:xfrm>
            <a:off x="5543895" y="2903241"/>
            <a:ext cx="9472" cy="64025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4358150-8612-B7A8-F618-BE68E3B37131}"/>
              </a:ext>
            </a:extLst>
          </p:cNvPr>
          <p:cNvSpPr/>
          <p:nvPr/>
        </p:nvSpPr>
        <p:spPr>
          <a:xfrm>
            <a:off x="2921010" y="2225556"/>
            <a:ext cx="5245770" cy="677685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F71C9C3C-94CE-4B26-DF32-93F63ACB418A}"/>
              </a:ext>
            </a:extLst>
          </p:cNvPr>
          <p:cNvSpPr/>
          <p:nvPr/>
        </p:nvSpPr>
        <p:spPr>
          <a:xfrm rot="5400000">
            <a:off x="5491753" y="-745477"/>
            <a:ext cx="814511" cy="9392454"/>
          </a:xfrm>
          <a:prstGeom prst="leftBrace">
            <a:avLst>
              <a:gd name="adj1" fmla="val 109644"/>
              <a:gd name="adj2" fmla="val 53680"/>
            </a:avLst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335E935-31C8-B64F-04B1-5169DCBDEC17}"/>
              </a:ext>
            </a:extLst>
          </p:cNvPr>
          <p:cNvCxnSpPr>
            <a:stCxn id="38" idx="1"/>
          </p:cNvCxnSpPr>
          <p:nvPr/>
        </p:nvCxnSpPr>
        <p:spPr>
          <a:xfrm flipV="1">
            <a:off x="5553367" y="3543494"/>
            <a:ext cx="1742724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37CDA56-CCF5-042C-FDC3-ACB31736D5BA}"/>
              </a:ext>
            </a:extLst>
          </p:cNvPr>
          <p:cNvSpPr txBox="1"/>
          <p:nvPr/>
        </p:nvSpPr>
        <p:spPr>
          <a:xfrm>
            <a:off x="7245899" y="3340970"/>
            <a:ext cx="317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Together determines </a:t>
            </a:r>
            <a:r>
              <a:rPr lang="en-US" b="1" dirty="0">
                <a:solidFill>
                  <a:schemeClr val="accent2"/>
                </a:solidFill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355495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842" y="636912"/>
            <a:ext cx="9550088" cy="921026"/>
          </a:xfrm>
        </p:spPr>
        <p:txBody>
          <a:bodyPr>
            <a:normAutofit fontScale="90000"/>
          </a:bodyPr>
          <a:lstStyle/>
          <a:p>
            <a:r>
              <a:rPr lang="en-US" dirty="0"/>
              <a:t>Joint-Lab: Beyond the Industry Solution </a:t>
            </a:r>
            <a:br>
              <a:rPr lang="en-US" b="1" dirty="0"/>
            </a:br>
            <a:endParaRPr lang="en-US" dirty="0"/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0727DF6-A57A-B03D-93F8-277EC53D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DE70B4-4627-BD98-BBB0-21A36C09B36A}"/>
              </a:ext>
            </a:extLst>
          </p:cNvPr>
          <p:cNvSpPr/>
          <p:nvPr/>
        </p:nvSpPr>
        <p:spPr>
          <a:xfrm>
            <a:off x="547995" y="2368392"/>
            <a:ext cx="3354569" cy="3297762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4552D-2131-390C-F98D-9E87EA54D1E4}"/>
              </a:ext>
            </a:extLst>
          </p:cNvPr>
          <p:cNvSpPr txBox="1"/>
          <p:nvPr/>
        </p:nvSpPr>
        <p:spPr>
          <a:xfrm>
            <a:off x="1264118" y="1850841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Industry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0C6F2-D94B-ED82-0F51-A6C56FC24DEA}"/>
              </a:ext>
            </a:extLst>
          </p:cNvPr>
          <p:cNvSpPr txBox="1"/>
          <p:nvPr/>
        </p:nvSpPr>
        <p:spPr>
          <a:xfrm>
            <a:off x="640930" y="2838279"/>
            <a:ext cx="2972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Optimize known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C7C1B0-EDD9-A4D6-02DD-D6A27F082D97}"/>
              </a:ext>
            </a:extLst>
          </p:cNvPr>
          <p:cNvSpPr txBox="1"/>
          <p:nvPr/>
        </p:nvSpPr>
        <p:spPr>
          <a:xfrm>
            <a:off x="640930" y="3425725"/>
            <a:ext cx="2914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Deliver solution under fixed assumption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A00F0-ACE5-D06A-C9B5-FC0C7499492B}"/>
              </a:ext>
            </a:extLst>
          </p:cNvPr>
          <p:cNvSpPr txBox="1"/>
          <p:nvPr/>
        </p:nvSpPr>
        <p:spPr>
          <a:xfrm>
            <a:off x="640930" y="4091232"/>
            <a:ext cx="2799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Focus on implementation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D0C301-F97E-2F06-A790-EBFB0BF41333}"/>
              </a:ext>
            </a:extLst>
          </p:cNvPr>
          <p:cNvSpPr txBox="1"/>
          <p:nvPr/>
        </p:nvSpPr>
        <p:spPr>
          <a:xfrm>
            <a:off x="640930" y="4608501"/>
            <a:ext cx="3314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Measure success by efficiency and short-term outcomes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680B7FF-9A3F-A969-A5A0-301442E0CC97}"/>
              </a:ext>
            </a:extLst>
          </p:cNvPr>
          <p:cNvSpPr/>
          <p:nvPr/>
        </p:nvSpPr>
        <p:spPr>
          <a:xfrm>
            <a:off x="4691850" y="2368392"/>
            <a:ext cx="3550983" cy="3297762"/>
          </a:xfrm>
          <a:prstGeom prst="roundRect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0DC16D-048C-C317-026A-6DB1BB908D98}"/>
              </a:ext>
            </a:extLst>
          </p:cNvPr>
          <p:cNvSpPr txBox="1"/>
          <p:nvPr/>
        </p:nvSpPr>
        <p:spPr>
          <a:xfrm>
            <a:off x="5862886" y="1847559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Joint-Lab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10DAAF-CFE7-299D-F40A-F63C58FC1E4E}"/>
              </a:ext>
            </a:extLst>
          </p:cNvPr>
          <p:cNvSpPr txBox="1"/>
          <p:nvPr/>
        </p:nvSpPr>
        <p:spPr>
          <a:xfrm>
            <a:off x="5018965" y="2838279"/>
            <a:ext cx="2896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Generalize questions and assumptions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CC907FBB-4048-5C0A-6C8D-ADCE3D7C54E5}"/>
              </a:ext>
            </a:extLst>
          </p:cNvPr>
          <p:cNvSpPr/>
          <p:nvPr/>
        </p:nvSpPr>
        <p:spPr>
          <a:xfrm>
            <a:off x="3613219" y="3007556"/>
            <a:ext cx="1312813" cy="123110"/>
          </a:xfrm>
          <a:prstGeom prst="rightArrow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D97669-AB5E-7CEE-3C19-808F47528921}"/>
              </a:ext>
            </a:extLst>
          </p:cNvPr>
          <p:cNvSpPr txBox="1"/>
          <p:nvPr/>
        </p:nvSpPr>
        <p:spPr>
          <a:xfrm>
            <a:off x="5018965" y="3428370"/>
            <a:ext cx="3079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Generalize uncertainty, boundary, and failure modes 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00C5805-8352-579D-FEA5-212C9D16DA92}"/>
              </a:ext>
            </a:extLst>
          </p:cNvPr>
          <p:cNvSpPr/>
          <p:nvPr/>
        </p:nvSpPr>
        <p:spPr>
          <a:xfrm>
            <a:off x="3613218" y="3568619"/>
            <a:ext cx="1312813" cy="123110"/>
          </a:xfrm>
          <a:prstGeom prst="rightArrow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CB4764-9D46-8BC9-17FC-6474F74F8301}"/>
              </a:ext>
            </a:extLst>
          </p:cNvPr>
          <p:cNvSpPr txBox="1"/>
          <p:nvPr/>
        </p:nvSpPr>
        <p:spPr>
          <a:xfrm>
            <a:off x="5018965" y="4017273"/>
            <a:ext cx="2999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Generalize implementation and execution standard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482A23-7164-BBA0-7A36-AF4737714ECF}"/>
              </a:ext>
            </a:extLst>
          </p:cNvPr>
          <p:cNvSpPr txBox="1"/>
          <p:nvPr/>
        </p:nvSpPr>
        <p:spPr>
          <a:xfrm>
            <a:off x="5018965" y="4608501"/>
            <a:ext cx="3223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Measure success by robustness, credibility, and long-term impact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AE1B61D9-0FE7-15D5-996F-FEBF8D4DA76E}"/>
              </a:ext>
            </a:extLst>
          </p:cNvPr>
          <p:cNvSpPr/>
          <p:nvPr/>
        </p:nvSpPr>
        <p:spPr>
          <a:xfrm>
            <a:off x="3613217" y="4213745"/>
            <a:ext cx="1312813" cy="123110"/>
          </a:xfrm>
          <a:prstGeom prst="rightArrow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EE9848F-A3C9-4211-EBD7-EDCA9795EECC}"/>
              </a:ext>
            </a:extLst>
          </p:cNvPr>
          <p:cNvSpPr/>
          <p:nvPr/>
        </p:nvSpPr>
        <p:spPr>
          <a:xfrm>
            <a:off x="3613217" y="4918989"/>
            <a:ext cx="1312813" cy="123110"/>
          </a:xfrm>
          <a:prstGeom prst="rightArrow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E444EC-8286-00D7-94C5-99F5DB7DC356}"/>
              </a:ext>
            </a:extLst>
          </p:cNvPr>
          <p:cNvSpPr txBox="1"/>
          <p:nvPr/>
        </p:nvSpPr>
        <p:spPr>
          <a:xfrm>
            <a:off x="9113436" y="3558856"/>
            <a:ext cx="3540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Establish industry standards  </a:t>
            </a:r>
          </a:p>
          <a:p>
            <a:r>
              <a:rPr lang="en-US" dirty="0"/>
              <a:t>Greater general impact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8982C7FF-5F49-3C2F-8EEA-5F3EE2363214}"/>
              </a:ext>
            </a:extLst>
          </p:cNvPr>
          <p:cNvSpPr/>
          <p:nvPr/>
        </p:nvSpPr>
        <p:spPr>
          <a:xfrm>
            <a:off x="8346558" y="3762668"/>
            <a:ext cx="685561" cy="263511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474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52" y="631349"/>
            <a:ext cx="9550088" cy="921026"/>
          </a:xfrm>
        </p:spPr>
        <p:txBody>
          <a:bodyPr>
            <a:normAutofit fontScale="90000"/>
          </a:bodyPr>
          <a:lstStyle/>
          <a:p>
            <a:r>
              <a:rPr lang="en-US" dirty="0"/>
              <a:t>Joint-Lab: Role Positioning of the University</a:t>
            </a:r>
            <a:br>
              <a:rPr lang="en-US" b="1" dirty="0"/>
            </a:br>
            <a:endParaRPr lang="en-US" dirty="0"/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0727DF6-A57A-B03D-93F8-277EC53D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E721B-6076-3CCD-480A-93C9916A2D8C}"/>
              </a:ext>
            </a:extLst>
          </p:cNvPr>
          <p:cNvSpPr txBox="1"/>
          <p:nvPr/>
        </p:nvSpPr>
        <p:spPr>
          <a:xfrm>
            <a:off x="1278808" y="1552376"/>
            <a:ext cx="4891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i="0" dirty="0">
                <a:solidFill>
                  <a:srgbClr val="0D0D0D"/>
                </a:solidFill>
                <a:effectLst/>
                <a:latin typeface="ui-sans-serif"/>
              </a:rPr>
              <a:t>The university provides analytical judgment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06641-2323-732B-969B-22D40FE5862C}"/>
              </a:ext>
            </a:extLst>
          </p:cNvPr>
          <p:cNvSpPr txBox="1"/>
          <p:nvPr/>
        </p:nvSpPr>
        <p:spPr>
          <a:xfrm>
            <a:off x="1591028" y="2358528"/>
            <a:ext cx="635161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Responsible for: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Research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Methodology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Decision support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F3F3F"/>
                </a:solidFill>
                <a:latin typeface="Helvetica" pitchFamily="2" charset="0"/>
              </a:rPr>
              <a:t>O</a:t>
            </a:r>
            <a:r>
              <a:rPr lang="en-US" dirty="0">
                <a:solidFill>
                  <a:srgbClr val="3F3F3F"/>
                </a:solidFill>
                <a:effectLst/>
                <a:latin typeface="Helvetica" pitchFamily="2" charset="0"/>
              </a:rPr>
              <a:t>n top of commercial solution provided by service provider</a:t>
            </a: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Commercial performance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Legal or regulatory conclusions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j-lt"/>
              </a:rPr>
              <a:t>Financial or investment outcomes</a:t>
            </a:r>
          </a:p>
          <a:p>
            <a:endParaRPr lang="en-C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97847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1" y="631350"/>
            <a:ext cx="9618033" cy="921026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Components of Implementation and Challenges </a:t>
            </a:r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FE727-5592-260D-3F81-F076686D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A8978F-B4B1-90B0-2884-A8181D9F6C89}"/>
              </a:ext>
            </a:extLst>
          </p:cNvPr>
          <p:cNvSpPr/>
          <p:nvPr/>
        </p:nvSpPr>
        <p:spPr>
          <a:xfrm>
            <a:off x="842597" y="2135708"/>
            <a:ext cx="2119423" cy="14460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Inverter and Electricity Network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99634D-9230-9D76-8814-D8F7F848BA02}"/>
              </a:ext>
            </a:extLst>
          </p:cNvPr>
          <p:cNvSpPr/>
          <p:nvPr/>
        </p:nvSpPr>
        <p:spPr>
          <a:xfrm>
            <a:off x="4579548" y="2135708"/>
            <a:ext cx="2119423" cy="14460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Blockchain </a:t>
            </a:r>
          </a:p>
          <a:p>
            <a:pPr algn="ctr"/>
            <a:r>
              <a:rPr lang="en-US" dirty="0"/>
              <a:t>(contains RWA standard)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E123203-EEC8-727D-695E-6E55F3820505}"/>
              </a:ext>
            </a:extLst>
          </p:cNvPr>
          <p:cNvSpPr/>
          <p:nvPr/>
        </p:nvSpPr>
        <p:spPr>
          <a:xfrm>
            <a:off x="4430726" y="4777895"/>
            <a:ext cx="2653689" cy="12634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 Design </a:t>
            </a:r>
          </a:p>
          <a:p>
            <a:pPr algn="ctr"/>
            <a:r>
              <a:rPr lang="en-US" dirty="0"/>
              <a:t>(to enhance exposure and liquidity)</a:t>
            </a:r>
          </a:p>
        </p:txBody>
      </p:sp>
      <p:sp>
        <p:nvSpPr>
          <p:cNvPr id="23" name="U-Turn Arrow 22">
            <a:extLst>
              <a:ext uri="{FF2B5EF4-FFF2-40B4-BE49-F238E27FC236}">
                <a16:creationId xmlns:a16="http://schemas.microsoft.com/office/drawing/2014/main" id="{2B08689B-BB74-DCAE-DB8E-23459E52B9E2}"/>
              </a:ext>
            </a:extLst>
          </p:cNvPr>
          <p:cNvSpPr/>
          <p:nvPr/>
        </p:nvSpPr>
        <p:spPr>
          <a:xfrm>
            <a:off x="1776511" y="1883266"/>
            <a:ext cx="3949309" cy="25244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90556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6C7270-C3A0-E099-76F8-D7C307E84034}"/>
              </a:ext>
            </a:extLst>
          </p:cNvPr>
          <p:cNvSpPr txBox="1"/>
          <p:nvPr/>
        </p:nvSpPr>
        <p:spPr>
          <a:xfrm>
            <a:off x="3261160" y="1570041"/>
            <a:ext cx="1010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Cashflow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2CADBF5E-E164-4E5B-1F11-B4A3681E35DA}"/>
              </a:ext>
            </a:extLst>
          </p:cNvPr>
          <p:cNvSpPr/>
          <p:nvPr/>
        </p:nvSpPr>
        <p:spPr>
          <a:xfrm>
            <a:off x="2962020" y="2791529"/>
            <a:ext cx="1569300" cy="176328"/>
          </a:xfrm>
          <a:prstGeom prst="rightArrow">
            <a:avLst>
              <a:gd name="adj1" fmla="val 50000"/>
              <a:gd name="adj2" fmla="val 12220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F2CD50-03C0-5E1B-CCD7-943364DA2C2D}"/>
              </a:ext>
            </a:extLst>
          </p:cNvPr>
          <p:cNvSpPr txBox="1"/>
          <p:nvPr/>
        </p:nvSpPr>
        <p:spPr>
          <a:xfrm>
            <a:off x="3442740" y="2891134"/>
            <a:ext cx="60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Data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1B12027-230A-F2BD-DAF1-EB2F76EAA4FE}"/>
              </a:ext>
            </a:extLst>
          </p:cNvPr>
          <p:cNvSpPr/>
          <p:nvPr/>
        </p:nvSpPr>
        <p:spPr>
          <a:xfrm rot="5400000">
            <a:off x="5050835" y="4102912"/>
            <a:ext cx="1184717" cy="165251"/>
          </a:xfrm>
          <a:prstGeom prst="rightArrow">
            <a:avLst>
              <a:gd name="adj1" fmla="val 50000"/>
              <a:gd name="adj2" fmla="val 12220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50B87D-2387-CD64-9F24-7D73FF3A12A6}"/>
              </a:ext>
            </a:extLst>
          </p:cNvPr>
          <p:cNvSpPr txBox="1"/>
          <p:nvPr/>
        </p:nvSpPr>
        <p:spPr>
          <a:xfrm>
            <a:off x="5725819" y="3925016"/>
            <a:ext cx="141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and stablecoins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E00FC7-4A01-46DB-25EE-9526D2279D84}"/>
              </a:ext>
            </a:extLst>
          </p:cNvPr>
          <p:cNvSpPr txBox="1"/>
          <p:nvPr/>
        </p:nvSpPr>
        <p:spPr>
          <a:xfrm>
            <a:off x="2962020" y="2191144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Challenge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B58976-F443-18F1-E7CA-902C97076533}"/>
              </a:ext>
            </a:extLst>
          </p:cNvPr>
          <p:cNvSpPr txBox="1"/>
          <p:nvPr/>
        </p:nvSpPr>
        <p:spPr>
          <a:xfrm>
            <a:off x="3738870" y="3625914"/>
            <a:ext cx="1213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Challenge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1C094A-56CA-C048-F1A5-E9BA0B9EF8A4}"/>
              </a:ext>
            </a:extLst>
          </p:cNvPr>
          <p:cNvSpPr txBox="1"/>
          <p:nvPr/>
        </p:nvSpPr>
        <p:spPr>
          <a:xfrm>
            <a:off x="3035398" y="5487364"/>
            <a:ext cx="1213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Challenge  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BDA8B0C-6771-AA1C-7983-17D4C71DEC63}"/>
              </a:ext>
            </a:extLst>
          </p:cNvPr>
          <p:cNvSpPr/>
          <p:nvPr/>
        </p:nvSpPr>
        <p:spPr>
          <a:xfrm>
            <a:off x="634902" y="4633087"/>
            <a:ext cx="2530549" cy="1309407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 participants and regulations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C395B7-003A-A8BC-6245-6C26C4F37955}"/>
              </a:ext>
            </a:extLst>
          </p:cNvPr>
          <p:cNvSpPr txBox="1"/>
          <p:nvPr/>
        </p:nvSpPr>
        <p:spPr>
          <a:xfrm>
            <a:off x="7824303" y="2641029"/>
            <a:ext cx="37426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Trust and Audit for Energy- RWA Data</a:t>
            </a:r>
            <a:r>
              <a:rPr lang="en-US" dirty="0"/>
              <a:t> </a:t>
            </a:r>
          </a:p>
          <a:p>
            <a:endParaRPr lang="en-US" b="1" dirty="0"/>
          </a:p>
          <a:p>
            <a:r>
              <a:rPr lang="en-SG" dirty="0"/>
              <a:t>Cashflow Structuring and Risk Pricing</a:t>
            </a:r>
          </a:p>
          <a:p>
            <a:endParaRPr lang="en-SG" dirty="0"/>
          </a:p>
          <a:p>
            <a:r>
              <a:rPr lang="en-SG" dirty="0"/>
              <a:t>Liquidity and Price Discovery in a Restricted (Compliant) Market</a:t>
            </a:r>
            <a:r>
              <a:rPr lang="en-US" dirty="0"/>
              <a:t> 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4EE8243-8261-A0BF-6870-CE59BE61A7EE}"/>
              </a:ext>
            </a:extLst>
          </p:cNvPr>
          <p:cNvSpPr/>
          <p:nvPr/>
        </p:nvSpPr>
        <p:spPr>
          <a:xfrm>
            <a:off x="7249667" y="2105299"/>
            <a:ext cx="4307432" cy="3410562"/>
          </a:xfrm>
          <a:prstGeom prst="roundRect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CD2088-7BB4-C046-EA0B-200B260FA845}"/>
              </a:ext>
            </a:extLst>
          </p:cNvPr>
          <p:cNvSpPr txBox="1"/>
          <p:nvPr/>
        </p:nvSpPr>
        <p:spPr>
          <a:xfrm>
            <a:off x="7216726" y="1692767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Joint-Lab addresses the challenges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F72DA4-0D50-8CD0-8CCF-D9B42B6F023F}"/>
              </a:ext>
            </a:extLst>
          </p:cNvPr>
          <p:cNvSpPr/>
          <p:nvPr/>
        </p:nvSpPr>
        <p:spPr>
          <a:xfrm>
            <a:off x="7475247" y="2783483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5DBEB0-557F-B588-F3EF-A90C6EB11882}"/>
              </a:ext>
            </a:extLst>
          </p:cNvPr>
          <p:cNvSpPr/>
          <p:nvPr/>
        </p:nvSpPr>
        <p:spPr>
          <a:xfrm>
            <a:off x="4776880" y="3603090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992AFD-8430-46B9-9289-87E9499884DF}"/>
              </a:ext>
            </a:extLst>
          </p:cNvPr>
          <p:cNvSpPr/>
          <p:nvPr/>
        </p:nvSpPr>
        <p:spPr>
          <a:xfrm>
            <a:off x="4068147" y="5457969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AF7EE9-EE84-1A63-C19E-1BC79A092042}"/>
              </a:ext>
            </a:extLst>
          </p:cNvPr>
          <p:cNvSpPr/>
          <p:nvPr/>
        </p:nvSpPr>
        <p:spPr>
          <a:xfrm>
            <a:off x="4008258" y="2170495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120C46-F181-9BFE-EE83-EECACF90C240}"/>
              </a:ext>
            </a:extLst>
          </p:cNvPr>
          <p:cNvSpPr/>
          <p:nvPr/>
        </p:nvSpPr>
        <p:spPr>
          <a:xfrm>
            <a:off x="7475247" y="3594468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C8CC3C-CFAF-D69D-60B7-1B2C6CCB4C75}"/>
              </a:ext>
            </a:extLst>
          </p:cNvPr>
          <p:cNvSpPr/>
          <p:nvPr/>
        </p:nvSpPr>
        <p:spPr>
          <a:xfrm>
            <a:off x="7498527" y="4387372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311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31350"/>
            <a:ext cx="9960574" cy="921026"/>
          </a:xfrm>
        </p:spPr>
        <p:txBody>
          <a:bodyPr>
            <a:normAutofit fontScale="90000"/>
          </a:bodyPr>
          <a:lstStyle/>
          <a:p>
            <a:r>
              <a:rPr lang="en-US" dirty="0"/>
              <a:t>Challenge and Resolution Tree (Research Questions)</a:t>
            </a:r>
            <a:br>
              <a:rPr lang="en-US" dirty="0"/>
            </a:br>
            <a:endParaRPr lang="en-US" dirty="0"/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0727DF6-A57A-B03D-93F8-277EC53D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C531373-4D4B-6FD1-882D-45FE10C58671}"/>
              </a:ext>
            </a:extLst>
          </p:cNvPr>
          <p:cNvSpPr/>
          <p:nvPr/>
        </p:nvSpPr>
        <p:spPr>
          <a:xfrm>
            <a:off x="3744097" y="1552376"/>
            <a:ext cx="2866768" cy="67962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Technical RWA Solutions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09F1908E-AE83-BF25-E026-B9D7AE80761A}"/>
              </a:ext>
            </a:extLst>
          </p:cNvPr>
          <p:cNvSpPr/>
          <p:nvPr/>
        </p:nvSpPr>
        <p:spPr>
          <a:xfrm rot="10800000">
            <a:off x="5177481" y="691902"/>
            <a:ext cx="2224216" cy="3104966"/>
          </a:xfrm>
          <a:prstGeom prst="arc">
            <a:avLst/>
          </a:prstGeom>
          <a:ln>
            <a:solidFill>
              <a:srgbClr val="FFC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A3BD390-B8A2-A4FC-EFD5-C7C2D9587B29}"/>
              </a:ext>
            </a:extLst>
          </p:cNvPr>
          <p:cNvSpPr/>
          <p:nvPr/>
        </p:nvSpPr>
        <p:spPr>
          <a:xfrm>
            <a:off x="6289589" y="3029076"/>
            <a:ext cx="556054" cy="1544595"/>
          </a:xfrm>
          <a:prstGeom prst="leftBrace">
            <a:avLst/>
          </a:prstGeom>
          <a:ln>
            <a:solidFill>
              <a:srgbClr val="FFC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98174-98A2-9131-0B35-3BC2516C3C9F}"/>
              </a:ext>
            </a:extLst>
          </p:cNvPr>
          <p:cNvSpPr txBox="1"/>
          <p:nvPr/>
        </p:nvSpPr>
        <p:spPr>
          <a:xfrm>
            <a:off x="6744380" y="3196703"/>
            <a:ext cx="41814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Trust and Audit for Energy- RWA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ZK-Enabled Asset Data Trust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ZK-Driven</a:t>
            </a:r>
            <a:r>
              <a:rPr lang="zh-CN" altLang="en-US" dirty="0"/>
              <a:t> </a:t>
            </a:r>
            <a:r>
              <a:rPr lang="en-US" dirty="0"/>
              <a:t>Adaptive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Digital-Twin State Machine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06E0AE7-366E-6452-B7E7-0D9AECB97420}"/>
              </a:ext>
            </a:extLst>
          </p:cNvPr>
          <p:cNvSpPr/>
          <p:nvPr/>
        </p:nvSpPr>
        <p:spPr>
          <a:xfrm rot="10800000">
            <a:off x="5177481" y="-1432406"/>
            <a:ext cx="2535497" cy="7328808"/>
          </a:xfrm>
          <a:prstGeom prst="arc">
            <a:avLst/>
          </a:prstGeom>
          <a:ln>
            <a:solidFill>
              <a:srgbClr val="FFC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EA85EBBD-44B8-0AEE-CB69-0F8DD0DEFD50}"/>
              </a:ext>
            </a:extLst>
          </p:cNvPr>
          <p:cNvSpPr/>
          <p:nvPr/>
        </p:nvSpPr>
        <p:spPr>
          <a:xfrm>
            <a:off x="6445229" y="5121884"/>
            <a:ext cx="556054" cy="1544595"/>
          </a:xfrm>
          <a:prstGeom prst="leftBrace">
            <a:avLst/>
          </a:prstGeom>
          <a:ln>
            <a:solidFill>
              <a:srgbClr val="FFC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476E02-5015-ABF1-4981-9C69EEA68F10}"/>
              </a:ext>
            </a:extLst>
          </p:cNvPr>
          <p:cNvSpPr txBox="1"/>
          <p:nvPr/>
        </p:nvSpPr>
        <p:spPr>
          <a:xfrm>
            <a:off x="6811196" y="5325365"/>
            <a:ext cx="42791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Cashflow Structuring and Risk Pricing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Distributional Cashflow Forecasting</a:t>
            </a:r>
            <a:endParaRPr lang="en-S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Quality-Controlled Pooling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Rule-Based Credit Enhancement</a:t>
            </a:r>
            <a:endParaRPr lang="en-SG" dirty="0"/>
          </a:p>
          <a:p>
            <a:endParaRPr lang="en-CN" b="1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99CA22-9F14-ECB1-6258-A89C7BD4C915}"/>
              </a:ext>
            </a:extLst>
          </p:cNvPr>
          <p:cNvSpPr/>
          <p:nvPr/>
        </p:nvSpPr>
        <p:spPr>
          <a:xfrm rot="5400000">
            <a:off x="1699488" y="1527694"/>
            <a:ext cx="5522597" cy="1433381"/>
          </a:xfrm>
          <a:prstGeom prst="arc">
            <a:avLst>
              <a:gd name="adj1" fmla="val 16200000"/>
              <a:gd name="adj2" fmla="val 64161"/>
            </a:avLst>
          </a:prstGeom>
          <a:ln>
            <a:solidFill>
              <a:srgbClr val="FFC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3C7916A-AD55-080A-093F-E5901D41E9C6}"/>
              </a:ext>
            </a:extLst>
          </p:cNvPr>
          <p:cNvSpPr/>
          <p:nvPr/>
        </p:nvSpPr>
        <p:spPr>
          <a:xfrm rot="10800000">
            <a:off x="3829756" y="4000843"/>
            <a:ext cx="599653" cy="1993265"/>
          </a:xfrm>
          <a:prstGeom prst="leftBrace">
            <a:avLst/>
          </a:prstGeom>
          <a:ln>
            <a:solidFill>
              <a:srgbClr val="FFC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2D62E2-8FFA-E8A9-E966-B79228B5DD1A}"/>
              </a:ext>
            </a:extLst>
          </p:cNvPr>
          <p:cNvSpPr txBox="1"/>
          <p:nvPr/>
        </p:nvSpPr>
        <p:spPr>
          <a:xfrm>
            <a:off x="213584" y="4206396"/>
            <a:ext cx="37935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Liquidity and Price Discovery in a Restricted (Compliant)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NAV Anchoring and Discount/Premium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LLM-Based Compliance Audit Automation</a:t>
            </a:r>
            <a:endParaRPr lang="en-C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DEE105E-518F-B4D8-EB51-7F74ABF3B125}"/>
              </a:ext>
            </a:extLst>
          </p:cNvPr>
          <p:cNvSpPr/>
          <p:nvPr/>
        </p:nvSpPr>
        <p:spPr>
          <a:xfrm>
            <a:off x="6096000" y="3296455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BCB19D-FBAA-1D59-20C7-8FFE0FFDEB89}"/>
              </a:ext>
            </a:extLst>
          </p:cNvPr>
          <p:cNvSpPr/>
          <p:nvPr/>
        </p:nvSpPr>
        <p:spPr>
          <a:xfrm>
            <a:off x="6250381" y="5386655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33EB51-5956-6306-552E-512522246592}"/>
              </a:ext>
            </a:extLst>
          </p:cNvPr>
          <p:cNvSpPr/>
          <p:nvPr/>
        </p:nvSpPr>
        <p:spPr>
          <a:xfrm>
            <a:off x="4260917" y="4513558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652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792" y="513652"/>
            <a:ext cx="11372405" cy="921026"/>
          </a:xfrm>
        </p:spPr>
        <p:txBody>
          <a:bodyPr>
            <a:normAutofit fontScale="90000"/>
          </a:bodyPr>
          <a:lstStyle/>
          <a:p>
            <a:r>
              <a:rPr lang="en-SG" dirty="0">
                <a:effectLst/>
              </a:rPr>
              <a:t>Research Direction 1: </a:t>
            </a:r>
            <a:r>
              <a:rPr lang="en-SG" dirty="0"/>
              <a:t>Trust and Audit for Energy- RWA Data</a:t>
            </a:r>
            <a:r>
              <a:rPr lang="en-US" dirty="0"/>
              <a:t> </a:t>
            </a:r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5F2C0EC0-ABD7-F8C4-C6E7-02E779D2C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9E0B7-927B-2788-99CA-D2B1F4064B97}"/>
              </a:ext>
            </a:extLst>
          </p:cNvPr>
          <p:cNvSpPr txBox="1"/>
          <p:nvPr/>
        </p:nvSpPr>
        <p:spPr>
          <a:xfrm>
            <a:off x="995145" y="1294735"/>
            <a:ext cx="10858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Importance: The project works only if everyone can trust the energy data behind the tokens from multiple 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F8558-41E5-3CBD-23C4-F352D2CEEBFA}"/>
              </a:ext>
            </a:extLst>
          </p:cNvPr>
          <p:cNvSpPr txBox="1"/>
          <p:nvPr/>
        </p:nvSpPr>
        <p:spPr>
          <a:xfrm>
            <a:off x="863792" y="2209190"/>
            <a:ext cx="10858280" cy="3811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b="1" dirty="0"/>
              <a:t>ZK-Enabled</a:t>
            </a:r>
            <a:r>
              <a:rPr lang="zh-CN" altLang="en-US" b="1" dirty="0"/>
              <a:t> </a:t>
            </a:r>
            <a:r>
              <a:rPr lang="en-US" b="1" dirty="0"/>
              <a:t>Asset Data Trust Score (device → portfolio)</a:t>
            </a:r>
            <a:br>
              <a:rPr lang="en-US" dirty="0"/>
            </a:br>
            <a:r>
              <a:rPr lang="en-US" sz="1600" dirty="0"/>
              <a:t>Fuse GNN-driven spatial-temporal consistency modeling with GAN-powered adversarial stress-testing to generate a hierarchical, ZKP-certified Trust Score—securing data integrity and privacy from device to portfolio levels for high-fidelity oracle commitments and proactive operations triage without exposing raw telemetry on-chain.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ZK-Driven</a:t>
            </a:r>
            <a:r>
              <a:rPr lang="zh-CN" altLang="en-US" b="1" dirty="0"/>
              <a:t> </a:t>
            </a:r>
            <a:r>
              <a:rPr lang="en-US" b="1" dirty="0"/>
              <a:t>Adaptive Verification (cost–risk frontier)</a:t>
            </a:r>
            <a:br>
              <a:rPr lang="en-US" dirty="0"/>
            </a:br>
            <a:r>
              <a:rPr lang="en-US" sz="1600" dirty="0"/>
              <a:t>Utilizing </a:t>
            </a:r>
            <a:r>
              <a:rPr lang="en-US" sz="1600" b="1" dirty="0"/>
              <a:t>ZKP</a:t>
            </a:r>
            <a:r>
              <a:rPr lang="en-US" sz="1600" dirty="0"/>
              <a:t> to generate compressed, verifiable "proofs of audit." This allows for high-density verification while minimizing on-chain data footprint and gas costs, effectively scaling the audit economics.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Digital-Twin State Machine (contract-consumable rules)</a:t>
            </a:r>
            <a:br>
              <a:rPr lang="en-US" dirty="0"/>
            </a:br>
            <a:r>
              <a:rPr lang="en-US" sz="1600" dirty="0"/>
              <a:t>Combine digital-twin signals with formal state-machine rules so each device transitions deterministically across states (e.g., normal / suspect / paused / recovery), with each state automatically governing eligibility, payout weights, holds/escrow, and correction workflows in an audit-readable, contract-consumable specification.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333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455" y="625061"/>
            <a:ext cx="11519065" cy="921026"/>
          </a:xfrm>
        </p:spPr>
        <p:txBody>
          <a:bodyPr>
            <a:normAutofit fontScale="90000"/>
          </a:bodyPr>
          <a:lstStyle/>
          <a:p>
            <a:r>
              <a:rPr lang="en-SG" dirty="0"/>
              <a:t>Research Direction 2: Cashflow Structuring and Risk Pricing</a:t>
            </a:r>
            <a:endParaRPr lang="en-US" dirty="0"/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FA213D6-8FEF-FDAB-5C5A-094C23DD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2B76C-DB1C-C8AB-EBC0-3A8567625592}"/>
              </a:ext>
            </a:extLst>
          </p:cNvPr>
          <p:cNvSpPr txBox="1"/>
          <p:nvPr/>
        </p:nvSpPr>
        <p:spPr>
          <a:xfrm>
            <a:off x="842597" y="2487701"/>
            <a:ext cx="10900670" cy="414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Distributional Cashflow Forecasting (multi-source)</a:t>
            </a:r>
            <a:br>
              <a:rPr lang="en-US" b="1" dirty="0"/>
            </a:br>
            <a:r>
              <a:rPr lang="en-US" sz="1600" dirty="0"/>
              <a:t>Fuse production history, weather signals, tariff/settlement logic, and device-state evidence into probabilistic cashflow forecasts (not point estimates), using AI models that learn non-linear patterns and generate scenario-based downside reports for term-sheet decisions.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Quality-Controlled Pooling (adverse selection)</a:t>
            </a:r>
            <a:br>
              <a:rPr lang="en-US" b="1" dirty="0"/>
            </a:br>
            <a:r>
              <a:rPr lang="en-US" sz="1600" dirty="0"/>
              <a:t>Prevent weak assets from diluting strong ones by enforcing quality-aware vault rules—risk-adjusted NAV, dynamic admission/fees, and optional segmentation—so contributors face fair pricing and the pool remains stable as heterogeneity scales.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Rule-Based Credit Enhancement (auditable triggers)</a:t>
            </a:r>
            <a:br>
              <a:rPr lang="en-US" b="1" dirty="0"/>
            </a:br>
            <a:r>
              <a:rPr lang="en-US" sz="1600" dirty="0"/>
              <a:t>Design non-discretionary protection mechanisms—reserves and parametric-style triggers—where trigger conditions are learned from tail-event patterns yet remain objectively verifiable, minimizing capital lock-up while covering extreme underperformance and settlement shortfalls.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EAC46-BA4B-5E25-A2BC-849084DEFF28}"/>
              </a:ext>
            </a:extLst>
          </p:cNvPr>
          <p:cNvSpPr txBox="1"/>
          <p:nvPr/>
        </p:nvSpPr>
        <p:spPr>
          <a:xfrm>
            <a:off x="1028782" y="1518551"/>
            <a:ext cx="10977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Importance: Energy-RWA financing scales only when future cashflows can be forecast, stress-tested, and protected against downside risk.</a:t>
            </a:r>
          </a:p>
        </p:txBody>
      </p:sp>
    </p:spTree>
    <p:extLst>
      <p:ext uri="{BB962C8B-B14F-4D97-AF65-F5344CB8AC3E}">
        <p14:creationId xmlns:p14="http://schemas.microsoft.com/office/powerpoint/2010/main" val="86602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631" y="219622"/>
            <a:ext cx="10064601" cy="921026"/>
          </a:xfrm>
        </p:spPr>
        <p:txBody>
          <a:bodyPr>
            <a:normAutofit fontScale="90000"/>
          </a:bodyPr>
          <a:lstStyle/>
          <a:p>
            <a:r>
              <a:rPr lang="en-SG" dirty="0"/>
              <a:t>Research Direction 3: Liquidity and Price Discovery in a Restricted (Compliant) Market</a:t>
            </a:r>
            <a:r>
              <a:rPr lang="en-US" dirty="0"/>
              <a:t> </a:t>
            </a:r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5E7E983-0006-5EB9-C104-91221B43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7F2A5-CF43-CB67-33F3-4967DD1C8E02}"/>
              </a:ext>
            </a:extLst>
          </p:cNvPr>
          <p:cNvSpPr txBox="1"/>
          <p:nvPr/>
        </p:nvSpPr>
        <p:spPr>
          <a:xfrm>
            <a:off x="1110709" y="1622286"/>
            <a:ext cx="10632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Importance: KYC/whitelist constraints can thin liquidity and distort price discovery, so compliant trading rules and mint/redeem design must jointly stabilize spreads and prices.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C79C6-D4AF-DF2E-D46A-E3DBDDFC418D}"/>
              </a:ext>
            </a:extLst>
          </p:cNvPr>
          <p:cNvSpPr txBox="1"/>
          <p:nvPr/>
        </p:nvSpPr>
        <p:spPr>
          <a:xfrm>
            <a:off x="1066963" y="2750256"/>
            <a:ext cx="10900670" cy="2287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NAV Anchoring and Discount/Premium Control</a:t>
            </a:r>
            <a:br>
              <a:rPr lang="en-US" dirty="0"/>
            </a:br>
            <a:r>
              <a:rPr lang="en-US" sz="1600" dirty="0"/>
              <a:t>Engineer mint/redeem access, redemption queues, and dynamic fee rules so the traded token price stays anchored to vault NAV, stress-testing the anchoring band under settlement frictions and adverse order flow.</a:t>
            </a:r>
          </a:p>
          <a:p>
            <a:pPr marL="285750" indent="-2857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LLM-Based Compliance Audit Automation</a:t>
            </a:r>
            <a:br>
              <a:rPr lang="en-US" dirty="0"/>
            </a:br>
            <a:r>
              <a:rPr lang="en-US" sz="1600" dirty="0"/>
              <a:t>Train a jurisdiction-aware compliance LLM with agent workflows that automatically collect required evidence across countries and generate standardized audit reports directly from the system’s data and smart-contract code.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57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237" y="535657"/>
            <a:ext cx="8596668" cy="921026"/>
          </a:xfrm>
        </p:spPr>
        <p:txBody>
          <a:bodyPr>
            <a:normAutofit/>
          </a:bodyPr>
          <a:lstStyle/>
          <a:p>
            <a:r>
              <a:rPr lang="en-US" dirty="0"/>
              <a:t>Scope of University Contribution</a:t>
            </a:r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5E7E983-0006-5EB9-C104-91221B43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BED199-E88E-522C-581A-C2776BA16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90141"/>
              </p:ext>
            </p:extLst>
          </p:nvPr>
        </p:nvGraphicFramePr>
        <p:xfrm>
          <a:off x="1489709" y="2127047"/>
          <a:ext cx="8763850" cy="353910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81925">
                  <a:extLst>
                    <a:ext uri="{9D8B030D-6E8A-4147-A177-3AD203B41FA5}">
                      <a16:colId xmlns:a16="http://schemas.microsoft.com/office/drawing/2014/main" val="4291190648"/>
                    </a:ext>
                  </a:extLst>
                </a:gridCol>
                <a:gridCol w="4381925">
                  <a:extLst>
                    <a:ext uri="{9D8B030D-6E8A-4147-A177-3AD203B41FA5}">
                      <a16:colId xmlns:a16="http://schemas.microsoft.com/office/drawing/2014/main" val="3012815576"/>
                    </a:ext>
                  </a:extLst>
                </a:gridCol>
              </a:tblGrid>
              <a:tr h="456659">
                <a:tc>
                  <a:txBody>
                    <a:bodyPr/>
                    <a:lstStyle/>
                    <a:p>
                      <a:r>
                        <a:rPr lang="en-US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University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567186"/>
                  </a:ext>
                </a:extLst>
              </a:tr>
              <a:tr h="456659">
                <a:tc>
                  <a:txBody>
                    <a:bodyPr/>
                    <a:lstStyle/>
                    <a:p>
                      <a:r>
                        <a:rPr lang="en-US" dirty="0"/>
                        <a:t>Asset and Data Credibility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Credibility metrics, anomaly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473872"/>
                  </a:ext>
                </a:extLst>
              </a:tr>
              <a:tr h="456659">
                <a:tc>
                  <a:txBody>
                    <a:bodyPr/>
                    <a:lstStyle/>
                    <a:p>
                      <a:r>
                        <a:rPr lang="en-US" dirty="0"/>
                        <a:t>Cash Flow and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 ranges, scenario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984084"/>
                  </a:ext>
                </a:extLst>
              </a:tr>
              <a:tr h="799153">
                <a:tc>
                  <a:txBody>
                    <a:bodyPr/>
                    <a:lstStyle/>
                    <a:p>
                      <a:r>
                        <a:rPr lang="en-US"/>
                        <a:t>RWA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Structural comparison, failure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744464"/>
                  </a:ext>
                </a:extLst>
              </a:tr>
              <a:tr h="456659">
                <a:tc>
                  <a:txBody>
                    <a:bodyPr/>
                    <a:lstStyle/>
                    <a:p>
                      <a:r>
                        <a:rPr lang="en-US"/>
                        <a:t>Token Design (Research)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Pricing logic, incentive compatibility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70212"/>
                  </a:ext>
                </a:extLst>
              </a:tr>
              <a:tr h="456659">
                <a:tc>
                  <a:txBody>
                    <a:bodyPr/>
                    <a:lstStyle/>
                    <a:p>
                      <a:r>
                        <a:rPr lang="en-US"/>
                        <a:t>Compliance Research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Risk identification, path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550952"/>
                  </a:ext>
                </a:extLst>
              </a:tr>
              <a:tr h="456659">
                <a:tc>
                  <a:txBody>
                    <a:bodyPr/>
                    <a:lstStyle/>
                    <a:p>
                      <a:r>
                        <a:rPr lang="en-US" dirty="0"/>
                        <a:t>Simulation and Prototyping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Mechanism simulation, research PoC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885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25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498457"/>
            <a:ext cx="8596668" cy="921026"/>
          </a:xfrm>
        </p:spPr>
        <p:txBody>
          <a:bodyPr>
            <a:normAutofit/>
          </a:bodyPr>
          <a:lstStyle/>
          <a:p>
            <a:r>
              <a:rPr lang="en-SG" dirty="0"/>
              <a:t>Research Timeline </a:t>
            </a:r>
            <a:endParaRPr lang="en-US" dirty="0"/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5E7E983-0006-5EB9-C104-91221B43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12D6AC-8715-1EFA-593C-A3AFC6B1A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086639"/>
              </p:ext>
            </p:extLst>
          </p:nvPr>
        </p:nvGraphicFramePr>
        <p:xfrm>
          <a:off x="1049917" y="1419483"/>
          <a:ext cx="9698732" cy="48071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9461">
                  <a:extLst>
                    <a:ext uri="{9D8B030D-6E8A-4147-A177-3AD203B41FA5}">
                      <a16:colId xmlns:a16="http://schemas.microsoft.com/office/drawing/2014/main" val="22710810"/>
                    </a:ext>
                  </a:extLst>
                </a:gridCol>
                <a:gridCol w="1461911">
                  <a:extLst>
                    <a:ext uri="{9D8B030D-6E8A-4147-A177-3AD203B41FA5}">
                      <a16:colId xmlns:a16="http://schemas.microsoft.com/office/drawing/2014/main" val="1065104480"/>
                    </a:ext>
                  </a:extLst>
                </a:gridCol>
                <a:gridCol w="2761385">
                  <a:extLst>
                    <a:ext uri="{9D8B030D-6E8A-4147-A177-3AD203B41FA5}">
                      <a16:colId xmlns:a16="http://schemas.microsoft.com/office/drawing/2014/main" val="197337908"/>
                    </a:ext>
                  </a:extLst>
                </a:gridCol>
                <a:gridCol w="4715975">
                  <a:extLst>
                    <a:ext uri="{9D8B030D-6E8A-4147-A177-3AD203B41FA5}">
                      <a16:colId xmlns:a16="http://schemas.microsoft.com/office/drawing/2014/main" val="967260041"/>
                    </a:ext>
                  </a:extLst>
                </a:gridCol>
              </a:tblGrid>
              <a:tr h="2561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Year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Deployment focus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System milestone 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Research focus (what the lab delivers)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extLst>
                  <a:ext uri="{0D108BD9-81ED-4DB2-BD59-A6C34878D82A}">
                    <a16:rowId xmlns:a16="http://schemas.microsoft.com/office/drawing/2014/main" val="4016656668"/>
                  </a:ext>
                </a:extLst>
              </a:tr>
              <a:tr h="9374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Y1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Stage 1: Pilot (restricted investors)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 dirty="0">
                          <a:effectLst/>
                        </a:rPr>
                        <a:t>Pilot architecture specification; telemetry ingestion, off-chain commitment, oracle, on-chain record; reward funding/claim dry-run</a:t>
                      </a:r>
                      <a:endParaRPr lang="en-US" sz="1100" dirty="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 dirty="0">
                          <a:effectLst/>
                        </a:rPr>
                        <a:t>Track 1 (Trust &amp; Audit): baseline anomaly detection and trust score prototype; sampling baseline; state machine v1 mapped to payout holds/weights</a:t>
                      </a:r>
                      <a:endParaRPr lang="en-US" sz="1100" dirty="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extLst>
                  <a:ext uri="{0D108BD9-81ED-4DB2-BD59-A6C34878D82A}">
                    <a16:rowId xmlns:a16="http://schemas.microsoft.com/office/drawing/2014/main" val="3137605294"/>
                  </a:ext>
                </a:extLst>
              </a:tr>
              <a:tr h="80119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Y2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Stage 1: Pilot execution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Pilot live monitoring dashboards; monthly audit package; first external-style audit rehearsal; stable daily/periodic updates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Track 1 deepening: multi-source consistency (meter/weather/settlement); cost–risk curve for sampling; dispute/correction workflow; publishable empirical results on data integrity + audit economics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extLst>
                  <a:ext uri="{0D108BD9-81ED-4DB2-BD59-A6C34878D82A}">
                    <a16:rowId xmlns:a16="http://schemas.microsoft.com/office/drawing/2014/main" val="3661693071"/>
                  </a:ext>
                </a:extLst>
              </a:tr>
              <a:tr h="9374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Y3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 dirty="0">
                          <a:effectLst/>
                        </a:rPr>
                        <a:t>Stage 2 prep: Defi design and restricted trading sandbox</a:t>
                      </a:r>
                      <a:endParaRPr lang="en-US" sz="1100" dirty="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 dirty="0">
                          <a:effectLst/>
                        </a:rPr>
                        <a:t>Defi specification (RWA NAV/share, mint/redeem policy, fee/reserve logic); restricted trading simulation environment (no public AMM yet)</a:t>
                      </a:r>
                      <a:endParaRPr lang="en-US" sz="1100" dirty="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 dirty="0">
                          <a:effectLst/>
                        </a:rPr>
                        <a:t>Track 2 (Cashflow Structuring): distributional cashflow forecast and scenario library;  pooling/adverse selection mechanism proposals; reserve sizing and parametric trigger candidates</a:t>
                      </a:r>
                      <a:endParaRPr lang="en-US" sz="1100" dirty="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extLst>
                  <a:ext uri="{0D108BD9-81ED-4DB2-BD59-A6C34878D82A}">
                    <a16:rowId xmlns:a16="http://schemas.microsoft.com/office/drawing/2014/main" val="287112790"/>
                  </a:ext>
                </a:extLst>
              </a:tr>
              <a:tr h="9374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Y4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Stage 2: Controlled market launch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Compliant vault and (permissioned) AMM launch plan; NAV anchoring rules (queue/delay/dynamic fees); disclosure tiers; market monitoring KPIs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Track 3 (Restricted market microstructure): whitelist-constrained AMM parameter optimizer; NAV anchoring stability analysis; disclosure–privacy policy templates and proof-backed reporting; stress tests for discount/premium stability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extLst>
                  <a:ext uri="{0D108BD9-81ED-4DB2-BD59-A6C34878D82A}">
                    <a16:rowId xmlns:a16="http://schemas.microsoft.com/office/drawing/2014/main" val="8500528"/>
                  </a:ext>
                </a:extLst>
              </a:tr>
              <a:tr h="9374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Y5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 dirty="0">
                          <a:effectLst/>
                        </a:rPr>
                        <a:t>Stage 2: Scale and optimization</a:t>
                      </a:r>
                      <a:endParaRPr lang="en-US" sz="1100" dirty="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>
                          <a:effectLst/>
                        </a:rPr>
                        <a:t>Parameter refinement loop (fee/incentives/redemption policy) based on observed KPIs; maturity playbook for replication across sites</a:t>
                      </a:r>
                      <a:endParaRPr lang="en-US" sz="110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SG" sz="1050" dirty="0">
                          <a:effectLst/>
                        </a:rPr>
                        <a:t>Consolidated “design handbook” (1/2/3 outputs to implementable parameters); final academic outputs (papers, open-source tools if allowed); performance evaluation against KPIs (slippage/spread/discount stability/audit cost reduction)</a:t>
                      </a:r>
                      <a:endParaRPr lang="en-US" sz="1100" dirty="0">
                        <a:effectLst/>
                        <a:latin typeface="Times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67" marR="39767" marT="0" marB="0"/>
                </a:tc>
                <a:extLst>
                  <a:ext uri="{0D108BD9-81ED-4DB2-BD59-A6C34878D82A}">
                    <a16:rowId xmlns:a16="http://schemas.microsoft.com/office/drawing/2014/main" val="2466610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09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335" y="477001"/>
            <a:ext cx="9895330" cy="921026"/>
          </a:xfrm>
        </p:spPr>
        <p:txBody>
          <a:bodyPr>
            <a:normAutofit/>
          </a:bodyPr>
          <a:lstStyle/>
          <a:p>
            <a:r>
              <a:rPr lang="en-US" dirty="0"/>
              <a:t>Strategic Value and ROI Projections</a:t>
            </a:r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5E7E983-0006-5EB9-C104-91221B43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503AF-816C-2FD3-7206-AF8D480AB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78" y="1987172"/>
            <a:ext cx="9760033" cy="463748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Financial ROI: Asset Premium &amp; Capital Cost Optimization</a:t>
            </a:r>
          </a:p>
          <a:p>
            <a:r>
              <a:rPr lang="en-US" dirty="0"/>
              <a:t>Eliminate data-risk premiums and minimize long-term audit expenditures by utilizing ZKP-certified trust scores and adaptive verification economics to significantly reduce financing spreads.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Operational ROI: Automated Compliance &amp; System Efficiency</a:t>
            </a:r>
          </a:p>
          <a:p>
            <a:r>
              <a:rPr lang="en-US" dirty="0"/>
              <a:t>Shorten compliance cycles from months to days and optimize maintenance resource allocation through LLM-powered audit automation and GNN-driven anomaly detection for proactive operations triage.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Strategic ROI: Intangible Assets &amp; Global Leadership</a:t>
            </a:r>
          </a:p>
          <a:p>
            <a:r>
              <a:rPr lang="en-US" dirty="0"/>
              <a:t>Position Deye as a global leader in green-energy digitalization by establishing international industry standards through high-impact academic publications and a definitive "Design Handbook"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EC6FB-970B-C5D0-E247-732040BEDB48}"/>
              </a:ext>
            </a:extLst>
          </p:cNvPr>
          <p:cNvSpPr txBox="1"/>
          <p:nvPr/>
        </p:nvSpPr>
        <p:spPr>
          <a:xfrm>
            <a:off x="1109353" y="1372537"/>
            <a:ext cx="1085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Objective: Converting Research Investment into Global 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221734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2256" y="2820656"/>
            <a:ext cx="2599401" cy="921026"/>
          </a:xfrm>
        </p:spPr>
        <p:txBody>
          <a:bodyPr>
            <a:normAutofit/>
          </a:bodyPr>
          <a:lstStyle/>
          <a:p>
            <a:r>
              <a:rPr lang="en-SG" dirty="0">
                <a:latin typeface="Helvetica" pitchFamily="2" charset="0"/>
              </a:rPr>
              <a:t>Thank you!</a:t>
            </a:r>
            <a:endParaRPr lang="en-US" dirty="0"/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C56FE-638A-0983-0F10-941540DEAB52}"/>
              </a:ext>
            </a:extLst>
          </p:cNvPr>
          <p:cNvSpPr txBox="1"/>
          <p:nvPr/>
        </p:nvSpPr>
        <p:spPr>
          <a:xfrm>
            <a:off x="5879592" y="35570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5E7E983-0006-5EB9-C104-91221B43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7279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12345</TotalTime>
  <Words>1386</Words>
  <Application>Microsoft Macintosh PowerPoint</Application>
  <PresentationFormat>Widescreen</PresentationFormat>
  <Paragraphs>161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Times</vt:lpstr>
      <vt:lpstr>ui-sans-serif</vt:lpstr>
      <vt:lpstr>Arial</vt:lpstr>
      <vt:lpstr>Calibri</vt:lpstr>
      <vt:lpstr>Calibri Light</vt:lpstr>
      <vt:lpstr>Helvetica</vt:lpstr>
      <vt:lpstr>Trebuchet MS</vt:lpstr>
      <vt:lpstr>Wingdings 3</vt:lpstr>
      <vt:lpstr>Facet</vt:lpstr>
      <vt:lpstr>Custom Design</vt:lpstr>
      <vt:lpstr>NTU-DEYE Joint-Laboratory for Real-World Asset (RWA) Research Collaboration</vt:lpstr>
      <vt:lpstr>Executive Summary</vt:lpstr>
      <vt:lpstr>Key Observations</vt:lpstr>
      <vt:lpstr>Joint-Lab: Beyond the Industry Solution  </vt:lpstr>
      <vt:lpstr>Joint-Lab: Role Positioning of the University </vt:lpstr>
      <vt:lpstr>Components of Implementation and Challenges </vt:lpstr>
      <vt:lpstr>Challenge and Resolution Tree (Research Questions) </vt:lpstr>
      <vt:lpstr>Research Direction 1: Trust and Audit for Energy- RWA Data </vt:lpstr>
      <vt:lpstr>Research Direction 2: Cashflow Structuring and Risk Pricing</vt:lpstr>
      <vt:lpstr>Research Direction 3: Liquidity and Price Discovery in a Restricted (Compliant) Market </vt:lpstr>
      <vt:lpstr>Scope of University Contribution</vt:lpstr>
      <vt:lpstr>Research Timeline </vt:lpstr>
      <vt:lpstr>Strategic Value and ROI Projections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Observability of Information Acquisition within Financial Markets: Empirical Study with Experiments</dc:title>
  <dc:creator>Ma Mengzhong (SME)</dc:creator>
  <cp:lastModifiedBy>#MA MENGZHONG#</cp:lastModifiedBy>
  <cp:revision>11</cp:revision>
  <dcterms:created xsi:type="dcterms:W3CDTF">2023-12-27T06:39:26Z</dcterms:created>
  <dcterms:modified xsi:type="dcterms:W3CDTF">2026-01-20T06:31:45Z</dcterms:modified>
</cp:coreProperties>
</file>