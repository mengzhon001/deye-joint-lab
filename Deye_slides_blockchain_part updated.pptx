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autoCompressPictures="0">
  <p:sldMasterIdLst>
    <p:sldMasterId id="2147483698" r:id="rId1"/>
    <p:sldMasterId id="2147483715" r:id="rId2"/>
  </p:sldMasterIdLst>
  <p:notesMasterIdLst>
    <p:notesMasterId r:id="rId6"/>
  </p:notesMasterIdLst>
  <p:handoutMasterIdLst>
    <p:handoutMasterId r:id="rId7"/>
  </p:handoutMasterIdLst>
  <p:sldIdLst>
    <p:sldId id="259" r:id="rId3"/>
    <p:sldId id="285" r:id="rId4"/>
    <p:sldId id="284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21EEE6F-16F0-3441-892A-1A1EE4CF95C8}">
          <p14:sldIdLst/>
        </p14:section>
        <p14:section name="Untitled Section" id="{03F32F2C-3603-BD44-B9B8-859B8203F6DD}">
          <p14:sldIdLst>
            <p14:sldId id="259"/>
            <p14:sldId id="285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CA71BE-ADB1-7479-23A1-092261895838}" name="Bao Te (Assoc Prof)" initials="TB" userId="S::baote@staff.main.ntu.edu.sg::76dc7591-3d9d-4271-96ac-8cdd45f5881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CC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31"/>
    <p:restoredTop sz="97264"/>
  </p:normalViewPr>
  <p:slideViewPr>
    <p:cSldViewPr snapToGrid="0">
      <p:cViewPr varScale="1">
        <p:scale>
          <a:sx n="128" d="100"/>
          <a:sy n="128" d="100"/>
        </p:scale>
        <p:origin x="328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12" Type="http://schemas.microsoft.com/office/2018/10/relationships/authors" Target="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2814916-828C-8D19-0B7E-DC60CB7C917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F8CE18-78B8-7F40-DF56-30E288DDDF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4CDD5-D1C1-1445-B516-A4647083DB4A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A2612B-7AA0-111C-BFB3-00F3657492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9AB61-E92E-61C7-A532-C9DBDEC5448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6321C5-3185-F14D-BD89-DC4503255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2315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7BE4BD-8E31-364C-93C7-ED3743C75608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A32B2B-CD96-AE40-8468-A2BD35B750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4725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942B8-F8DC-D54A-8391-171F8954DA25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465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76201-9B43-CB4F-A325-3EFF182680A4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48647" y="6041361"/>
            <a:ext cx="68333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086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BB1BA-BE95-BC40-BED7-34D6A130A6BF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664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F62F2-6B66-B54F-A376-F4FE30A0955C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96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78B09-8668-A74D-BB01-0D14AB3DF6C7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408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4A28C-DA0E-DF40-B67D-C42CDFB7E246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666351" y="6047049"/>
            <a:ext cx="68333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794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FBD76-7341-1B4A-99DF-5BF2C4EFF194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702927" y="6028761"/>
            <a:ext cx="68333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225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B693B-3273-5543-AEE9-4A9FE2BDF249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894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FE0A2-9C76-2748-9414-8CD6C8AE42A3}" type="datetime1">
              <a:rPr lang="en-SG" smtClean="0"/>
              <a:t>21/1/26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B177-FAA6-5540-9F38-EDB2EEC54DA2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409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A5D7-3D60-0F4A-A90E-1902BAFDFD4D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3231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5A31F-2836-754E-8018-01C8CA688DA9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0790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B87C8-B12B-F143-BCED-8F0131D81F44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5488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CED56-2973-D549-8EE3-DE214AFFE0E0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8798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18EFD-1482-4F47-B1E7-79596AD9D257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7221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DAF2E-346C-A841-9B9E-913C7DDA0185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7029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12F70-797B-5C21-4AC9-7C89BA5091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843E35-871A-5EDA-B94C-E0BE4E494D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556CE-ABF4-11D4-F221-AB1D1CE46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1D4A5-4A9E-1B5F-2948-88DE4EA9C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AC45F-B08E-0874-BBE5-6E8B29944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42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296F3-EA76-C032-E22A-4668F8FD9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A9F5E-0585-72D6-CB91-D24DD5CE0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B8438-0700-7CFA-270A-DB8B0A5A1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FA8EE-788E-072C-289F-E50F708DD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FACF3-0C99-6F2B-8597-6A4777C69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4356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42370-E82D-F7A1-F7A2-FA3513186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96ED6-924C-50C7-E8E5-EDBEE44E4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BA3A1-B03F-96A3-D6C9-9306E5ED7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5AE6D-5D3F-D612-C9A5-68417FE3F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C2593-A5E5-3532-2896-137C6EFE0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3973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E6DCA-E6C0-6205-3FB5-3897A385D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00728-E1A2-98BE-6364-9D8EA7654B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CE702-3C1F-8634-9A61-CE879D3E3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099BB3-6967-F0D1-5D18-784D8D35C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6947F0-0E5F-FD55-27FC-479ABE6E8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5462E-430B-63C8-CF7B-ED7075B96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9783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FF68C-4AD4-01A4-13E1-E1B6C8651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65EBE-1862-2475-5318-8BB5F172B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2720C8-2BCD-51F0-3CDE-47008B9B8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6196E1-19B2-169D-25B1-4C32C88356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FF725-DBA8-CD99-8E50-05FB975472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AAA9C1-63E5-5EFF-2E99-99D222504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A6D6F1-CCFD-F42C-AF40-A1BB70F1F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44394A-6DB6-AF43-42F0-2E33556FB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7306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CF432-CD69-4612-73E4-297E84702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E8BFC6-8B31-14D2-291B-D32CA0E95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7FFD01-9ED7-F1AB-2FD0-EF232FC8B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AEAFA8-18CD-2089-C732-418767438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6270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793678-2F98-DEEC-F20E-769152A08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B10D47-3C09-B833-6F31-6C8DE4704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C7F1F-6316-968C-F29B-33BD5E309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0689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0B24E-E6FF-5760-B796-ED2A46DD6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7EB71-3245-7DF6-544D-6DF781CE4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B3900-059C-2013-9D43-8BBA3130D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230C8-4B65-CF3D-44B2-7CD20EFDB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C818D-CF16-F922-E9FF-ED0155269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DACC66-E44C-E3AF-9AC3-718EEC05E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618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98C94-08B5-DB35-7201-32D94AB8D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2E265B-422C-AD2C-CD04-A2099805C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E6B5B2-595B-B87D-9173-9195186BFB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CF24A-144D-F4D3-90B4-7E9562953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800C31-D775-43A8-AC3A-CB1D370EB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D286A-05F5-C4D0-8F97-33990C675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45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0F18C-0889-029F-C46A-3607227B4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280A3C-37B3-BB2C-3942-2A2FD1AAF0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C6873-8B25-1AEA-07EC-21EDF1A4C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7E18D-A45D-09EC-0684-CC340A55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F5F9E-C21E-8E67-D649-B22DCBE7C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86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8D004B-13B7-FB50-C8D5-BEFABAF0D6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8D3D-438F-B075-08A8-46BAABCF8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811D8-C027-0EA6-BCF3-91A1A12A4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D5D22-F9C9-3342-B841-9598ACC20CCB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D9C83-D09B-F809-064B-59AC9FD84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703AF-6108-B6C4-C811-3CC9D7561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341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28D8E7-88C2-F749-84AF-F1B71A432488}" type="datetime1">
              <a:rPr lang="en-SG" smtClean="0"/>
              <a:t>21/1/26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13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BD5D22-29B9-9946-8C4F-78F5D7965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347BD-9A80-EDF2-9963-B84FBD509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08ECF-8598-0A74-159A-BFF8E9EF0B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D5D22-F9C9-3342-B841-9598ACC20CCB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197A4-D463-4762-D687-F44A27F1E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8296A-AE80-F864-508B-D846A6BC5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0A808-88C9-4540-A6B4-E24FEBC1E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988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圆角矩形 43">
            <a:extLst>
              <a:ext uri="{FF2B5EF4-FFF2-40B4-BE49-F238E27FC236}">
                <a16:creationId xmlns:a16="http://schemas.microsoft.com/office/drawing/2014/main" id="{FFCEE1E8-E2C4-34FC-DBDE-B81B0B3B6F90}"/>
              </a:ext>
            </a:extLst>
          </p:cNvPr>
          <p:cNvSpPr/>
          <p:nvPr/>
        </p:nvSpPr>
        <p:spPr>
          <a:xfrm>
            <a:off x="3995207" y="1255038"/>
            <a:ext cx="3130161" cy="521087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025B48C8-3EE1-7755-885B-CA31EB4703DC}"/>
              </a:ext>
            </a:extLst>
          </p:cNvPr>
          <p:cNvSpPr/>
          <p:nvPr/>
        </p:nvSpPr>
        <p:spPr>
          <a:xfrm>
            <a:off x="593688" y="1249352"/>
            <a:ext cx="3130161" cy="521087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0E434-559E-7519-3330-8C6172B62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8810" y="274070"/>
            <a:ext cx="9618033" cy="921026"/>
          </a:xfrm>
        </p:spPr>
        <p:txBody>
          <a:bodyPr>
            <a:normAutofit/>
          </a:bodyPr>
          <a:lstStyle/>
          <a:p>
            <a:r>
              <a:rPr lang="en-US" altLang="zh-CN" dirty="0"/>
              <a:t>Overall</a:t>
            </a:r>
            <a:r>
              <a:rPr lang="zh-CN" altLang="en-US" dirty="0"/>
              <a:t> </a:t>
            </a:r>
            <a:r>
              <a:rPr lang="en-US" altLang="zh-CN" dirty="0"/>
              <a:t>Framework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Project</a:t>
            </a:r>
            <a:r>
              <a:rPr lang="zh-CN" altLang="en-US" dirty="0"/>
              <a:t> </a:t>
            </a:r>
            <a:r>
              <a:rPr lang="en-US" altLang="zh-CN" dirty="0"/>
              <a:t>Significance</a:t>
            </a:r>
            <a:endParaRPr lang="en-US" dirty="0"/>
          </a:p>
        </p:txBody>
      </p:sp>
      <p:sp>
        <p:nvSpPr>
          <p:cNvPr id="17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FFE727-5592-260D-3F81-F076686DB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0</a:t>
            </a:fld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EA8978F-B4B1-90B0-2884-A8181D9F6C89}"/>
              </a:ext>
            </a:extLst>
          </p:cNvPr>
          <p:cNvSpPr/>
          <p:nvPr/>
        </p:nvSpPr>
        <p:spPr>
          <a:xfrm>
            <a:off x="860175" y="1579716"/>
            <a:ext cx="2573976" cy="112213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AI-driven</a:t>
            </a:r>
            <a:r>
              <a:rPr lang="zh-CN" altLang="en-US" dirty="0"/>
              <a:t> </a:t>
            </a:r>
            <a:r>
              <a:rPr lang="en-US" altLang="zh-CN" dirty="0"/>
              <a:t>Operational</a:t>
            </a:r>
            <a:r>
              <a:rPr lang="zh-CN" altLang="en-US" dirty="0"/>
              <a:t> </a:t>
            </a:r>
            <a:r>
              <a:rPr lang="en-US" altLang="zh-CN" dirty="0"/>
              <a:t>Management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Profit</a:t>
            </a:r>
            <a:r>
              <a:rPr lang="zh-CN" altLang="en-US" dirty="0"/>
              <a:t> </a:t>
            </a:r>
            <a:r>
              <a:rPr lang="en-US" altLang="zh-CN" dirty="0"/>
              <a:t>Improvements</a:t>
            </a: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499634D-9230-9D76-8814-D8F7F848BA02}"/>
              </a:ext>
            </a:extLst>
          </p:cNvPr>
          <p:cNvSpPr/>
          <p:nvPr/>
        </p:nvSpPr>
        <p:spPr>
          <a:xfrm>
            <a:off x="4560412" y="1394350"/>
            <a:ext cx="2119423" cy="9915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Blockchain-Supporting Mechanism</a:t>
            </a:r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E123203-EEC8-727D-695E-6E55F3820505}"/>
              </a:ext>
            </a:extLst>
          </p:cNvPr>
          <p:cNvSpPr/>
          <p:nvPr/>
        </p:nvSpPr>
        <p:spPr>
          <a:xfrm>
            <a:off x="4563732" y="3102318"/>
            <a:ext cx="2105357" cy="110506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Participation-Constrained Mechanism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2CADBF5E-E164-4E5B-1F11-B4A3681E35DA}"/>
              </a:ext>
            </a:extLst>
          </p:cNvPr>
          <p:cNvSpPr/>
          <p:nvPr/>
        </p:nvSpPr>
        <p:spPr>
          <a:xfrm>
            <a:off x="3718141" y="3802660"/>
            <a:ext cx="764419" cy="223887"/>
          </a:xfrm>
          <a:prstGeom prst="rightArrow">
            <a:avLst>
              <a:gd name="adj1" fmla="val 50000"/>
              <a:gd name="adj2" fmla="val 122207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F2CD50-03C0-5E1B-CCD7-943364DA2C2D}"/>
              </a:ext>
            </a:extLst>
          </p:cNvPr>
          <p:cNvSpPr txBox="1"/>
          <p:nvPr/>
        </p:nvSpPr>
        <p:spPr>
          <a:xfrm>
            <a:off x="3672149" y="3510932"/>
            <a:ext cx="6078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Data</a:t>
            </a:r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51B12027-230A-F2BD-DAF1-EB2F76EAA4FE}"/>
              </a:ext>
            </a:extLst>
          </p:cNvPr>
          <p:cNvSpPr/>
          <p:nvPr/>
        </p:nvSpPr>
        <p:spPr>
          <a:xfrm rot="5400000">
            <a:off x="5228100" y="2652241"/>
            <a:ext cx="670396" cy="183707"/>
          </a:xfrm>
          <a:prstGeom prst="rightArrow">
            <a:avLst>
              <a:gd name="adj1" fmla="val 50000"/>
              <a:gd name="adj2" fmla="val 122207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50B87D-2387-CD64-9F24-7D73FF3A12A6}"/>
              </a:ext>
            </a:extLst>
          </p:cNvPr>
          <p:cNvSpPr txBox="1"/>
          <p:nvPr/>
        </p:nvSpPr>
        <p:spPr>
          <a:xfrm>
            <a:off x="5632772" y="2570000"/>
            <a:ext cx="1414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E00FC7-4A01-46DB-25EE-9526D2279D84}"/>
              </a:ext>
            </a:extLst>
          </p:cNvPr>
          <p:cNvSpPr txBox="1"/>
          <p:nvPr/>
        </p:nvSpPr>
        <p:spPr>
          <a:xfrm>
            <a:off x="1679909" y="1374541"/>
            <a:ext cx="5320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WP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1C094A-56CA-C048-F1A5-E9BA0B9EF8A4}"/>
              </a:ext>
            </a:extLst>
          </p:cNvPr>
          <p:cNvSpPr txBox="1"/>
          <p:nvPr/>
        </p:nvSpPr>
        <p:spPr>
          <a:xfrm>
            <a:off x="4560412" y="2631210"/>
            <a:ext cx="594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WP  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BDA8B0C-6771-AA1C-7983-17D4C71DEC63}"/>
              </a:ext>
            </a:extLst>
          </p:cNvPr>
          <p:cNvSpPr/>
          <p:nvPr/>
        </p:nvSpPr>
        <p:spPr>
          <a:xfrm>
            <a:off x="4211382" y="4957518"/>
            <a:ext cx="2656074" cy="921026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Market participants and regulations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C395B7-003A-A8BC-6245-6C26C4F37955}"/>
              </a:ext>
            </a:extLst>
          </p:cNvPr>
          <p:cNvSpPr txBox="1"/>
          <p:nvPr/>
        </p:nvSpPr>
        <p:spPr>
          <a:xfrm>
            <a:off x="7907745" y="4962795"/>
            <a:ext cx="428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Simulation- and AI-Based Allocation and Valuation Signals under Restricted Participation</a:t>
            </a:r>
            <a:endParaRPr lang="en-US" sz="1600" dirty="0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24EE8243-8261-A0BF-6870-CE59BE61A7EE}"/>
              </a:ext>
            </a:extLst>
          </p:cNvPr>
          <p:cNvSpPr/>
          <p:nvPr/>
        </p:nvSpPr>
        <p:spPr>
          <a:xfrm>
            <a:off x="7249666" y="2415356"/>
            <a:ext cx="4744412" cy="3410562"/>
          </a:xfrm>
          <a:prstGeom prst="roundRect">
            <a:avLst/>
          </a:prstGeom>
          <a:noFill/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CD2088-7BB4-C046-EA0B-200B260FA845}"/>
              </a:ext>
            </a:extLst>
          </p:cNvPr>
          <p:cNvSpPr txBox="1"/>
          <p:nvPr/>
        </p:nvSpPr>
        <p:spPr>
          <a:xfrm>
            <a:off x="7369954" y="1881042"/>
            <a:ext cx="43733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</a:rPr>
              <a:t>Joint-Lab addresses the challenges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AF72DA4-0D50-8CD0-8CCF-D9B42B6F023F}"/>
              </a:ext>
            </a:extLst>
          </p:cNvPr>
          <p:cNvSpPr/>
          <p:nvPr/>
        </p:nvSpPr>
        <p:spPr>
          <a:xfrm>
            <a:off x="7491254" y="2613212"/>
            <a:ext cx="325776" cy="36794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6992AFD-8430-46B9-9289-87E9499884DF}"/>
              </a:ext>
            </a:extLst>
          </p:cNvPr>
          <p:cNvSpPr/>
          <p:nvPr/>
        </p:nvSpPr>
        <p:spPr>
          <a:xfrm>
            <a:off x="5015254" y="2601815"/>
            <a:ext cx="325776" cy="36794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8AF7EE9-EE84-1A63-C19E-1BC79A092042}"/>
              </a:ext>
            </a:extLst>
          </p:cNvPr>
          <p:cNvSpPr/>
          <p:nvPr/>
        </p:nvSpPr>
        <p:spPr>
          <a:xfrm>
            <a:off x="2123524" y="1354745"/>
            <a:ext cx="325776" cy="36794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A120C46-F181-9BFE-EE83-EECACF90C240}"/>
              </a:ext>
            </a:extLst>
          </p:cNvPr>
          <p:cNvSpPr/>
          <p:nvPr/>
        </p:nvSpPr>
        <p:spPr>
          <a:xfrm>
            <a:off x="7486694" y="3434711"/>
            <a:ext cx="325776" cy="36794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EC8CC3C-CFAF-D69D-60B7-1B2C6CCB4C75}"/>
              </a:ext>
            </a:extLst>
          </p:cNvPr>
          <p:cNvSpPr/>
          <p:nvPr/>
        </p:nvSpPr>
        <p:spPr>
          <a:xfrm>
            <a:off x="7478048" y="4248848"/>
            <a:ext cx="325776" cy="36794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E9096FE-0596-6493-3B23-5B3A7430C627}"/>
              </a:ext>
            </a:extLst>
          </p:cNvPr>
          <p:cNvSpPr/>
          <p:nvPr/>
        </p:nvSpPr>
        <p:spPr>
          <a:xfrm>
            <a:off x="7505775" y="5082443"/>
            <a:ext cx="325776" cy="36794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en-C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24E6F5-A083-A1C6-3704-799A779AFCD3}"/>
              </a:ext>
            </a:extLst>
          </p:cNvPr>
          <p:cNvSpPr txBox="1"/>
          <p:nvPr/>
        </p:nvSpPr>
        <p:spPr>
          <a:xfrm>
            <a:off x="4542504" y="4511936"/>
            <a:ext cx="594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WP 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9E7C616-A158-B592-0236-F31D40CEAD0B}"/>
              </a:ext>
            </a:extLst>
          </p:cNvPr>
          <p:cNvSpPr/>
          <p:nvPr/>
        </p:nvSpPr>
        <p:spPr>
          <a:xfrm>
            <a:off x="4990821" y="4475628"/>
            <a:ext cx="325776" cy="36794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en-CN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FC66FBE-6B5D-C0CB-CC22-41751F8E33CD}"/>
              </a:ext>
            </a:extLst>
          </p:cNvPr>
          <p:cNvSpPr txBox="1"/>
          <p:nvPr/>
        </p:nvSpPr>
        <p:spPr>
          <a:xfrm>
            <a:off x="7898781" y="2475635"/>
            <a:ext cx="40688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SG" sz="1600" b="1" dirty="0"/>
              <a:t>AI-Driven </a:t>
            </a:r>
            <a:r>
              <a:rPr lang="en-US" altLang="zh-CN" sz="1600" b="1" dirty="0"/>
              <a:t>Prediction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Models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and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Optimization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for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Energy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Devices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and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Power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Systems</a:t>
            </a:r>
            <a:endParaRPr lang="zh-SG" altLang="en-US" sz="1600" b="1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34C6E7A-3181-68B6-11A4-29C4AD506BB3}"/>
              </a:ext>
            </a:extLst>
          </p:cNvPr>
          <p:cNvSpPr txBox="1"/>
          <p:nvPr/>
        </p:nvSpPr>
        <p:spPr>
          <a:xfrm>
            <a:off x="7913848" y="3264711"/>
            <a:ext cx="39352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/>
              <a:t>Cloud-based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Digital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Twin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Diagnostics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and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Predictive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Maintenance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for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Energy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Devices</a:t>
            </a:r>
            <a:r>
              <a:rPr lang="zh-CN" altLang="en-US" sz="1600" b="1" dirty="0"/>
              <a:t> </a:t>
            </a:r>
            <a:endParaRPr lang="zh-SG" altLang="en-US" sz="1600" b="1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B5A36A1-8C9F-F2B5-B4C8-9CE21EBD39BB}"/>
              </a:ext>
            </a:extLst>
          </p:cNvPr>
          <p:cNvSpPr txBox="1"/>
          <p:nvPr/>
        </p:nvSpPr>
        <p:spPr>
          <a:xfrm>
            <a:off x="7907745" y="4113753"/>
            <a:ext cx="39352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SG" sz="1600" b="1" dirty="0"/>
              <a:t>AI-Driven Performance Dynamics and Risk Analysis in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Blockchain-Supported</a:t>
            </a:r>
            <a:r>
              <a:rPr lang="en-US" altLang="zh-SG" sz="1600" b="1" dirty="0"/>
              <a:t> Energy Systems</a:t>
            </a:r>
          </a:p>
        </p:txBody>
      </p:sp>
      <p:sp>
        <p:nvSpPr>
          <p:cNvPr id="37" name="Right Arrow 27">
            <a:extLst>
              <a:ext uri="{FF2B5EF4-FFF2-40B4-BE49-F238E27FC236}">
                <a16:creationId xmlns:a16="http://schemas.microsoft.com/office/drawing/2014/main" id="{8F8BD395-917F-2532-44C8-881063EEDFEA}"/>
              </a:ext>
            </a:extLst>
          </p:cNvPr>
          <p:cNvSpPr/>
          <p:nvPr/>
        </p:nvSpPr>
        <p:spPr>
          <a:xfrm rot="5400000">
            <a:off x="5211782" y="4496659"/>
            <a:ext cx="670396" cy="183707"/>
          </a:xfrm>
          <a:prstGeom prst="rightArrow">
            <a:avLst>
              <a:gd name="adj1" fmla="val 50000"/>
              <a:gd name="adj2" fmla="val 122207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27">
            <a:extLst>
              <a:ext uri="{FF2B5EF4-FFF2-40B4-BE49-F238E27FC236}">
                <a16:creationId xmlns:a16="http://schemas.microsoft.com/office/drawing/2014/main" id="{CB849F7C-C314-43A8-04EF-D830CD9C49E8}"/>
              </a:ext>
            </a:extLst>
          </p:cNvPr>
          <p:cNvSpPr/>
          <p:nvPr/>
        </p:nvSpPr>
        <p:spPr>
          <a:xfrm rot="16200000">
            <a:off x="1811965" y="2987178"/>
            <a:ext cx="670396" cy="183707"/>
          </a:xfrm>
          <a:prstGeom prst="rightArrow">
            <a:avLst>
              <a:gd name="adj1" fmla="val 50000"/>
              <a:gd name="adj2" fmla="val 122207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6">
            <a:extLst>
              <a:ext uri="{FF2B5EF4-FFF2-40B4-BE49-F238E27FC236}">
                <a16:creationId xmlns:a16="http://schemas.microsoft.com/office/drawing/2014/main" id="{50E0C839-E71C-B50B-E068-95ACA385A014}"/>
              </a:ext>
            </a:extLst>
          </p:cNvPr>
          <p:cNvSpPr/>
          <p:nvPr/>
        </p:nvSpPr>
        <p:spPr>
          <a:xfrm>
            <a:off x="772507" y="3425281"/>
            <a:ext cx="2805815" cy="119151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Cloud</a:t>
            </a:r>
            <a:r>
              <a:rPr lang="zh-CN" altLang="en-US" dirty="0"/>
              <a:t> </a:t>
            </a:r>
            <a:r>
              <a:rPr lang="en-US" altLang="zh-CN" dirty="0"/>
              <a:t>Cognitive</a:t>
            </a:r>
            <a:r>
              <a:rPr lang="zh-CN" altLang="en-US" dirty="0"/>
              <a:t> </a:t>
            </a:r>
            <a:r>
              <a:rPr lang="en-US" altLang="zh-CN" dirty="0"/>
              <a:t>Digital</a:t>
            </a:r>
            <a:r>
              <a:rPr lang="zh-CN" altLang="en-US" dirty="0"/>
              <a:t> </a:t>
            </a:r>
            <a:r>
              <a:rPr lang="en-US" altLang="zh-CN" dirty="0"/>
              <a:t>Twin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Lifecycle</a:t>
            </a:r>
            <a:r>
              <a:rPr lang="zh-CN" altLang="en-US" dirty="0"/>
              <a:t> </a:t>
            </a:r>
            <a:r>
              <a:rPr lang="en-US" altLang="zh-CN" dirty="0"/>
              <a:t>Fault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Safety</a:t>
            </a:r>
            <a:r>
              <a:rPr lang="zh-CN" altLang="en-US" dirty="0"/>
              <a:t> </a:t>
            </a:r>
            <a:r>
              <a:rPr lang="en-US" altLang="zh-CN" dirty="0"/>
              <a:t>Management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15DBEB0-557F-B588-F3EF-A90C6EB11882}"/>
              </a:ext>
            </a:extLst>
          </p:cNvPr>
          <p:cNvSpPr/>
          <p:nvPr/>
        </p:nvSpPr>
        <p:spPr>
          <a:xfrm>
            <a:off x="2130469" y="4428435"/>
            <a:ext cx="325776" cy="36794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2</a:t>
            </a:r>
          </a:p>
        </p:txBody>
      </p:sp>
      <p:sp>
        <p:nvSpPr>
          <p:cNvPr id="43" name="TextBox 29">
            <a:extLst>
              <a:ext uri="{FF2B5EF4-FFF2-40B4-BE49-F238E27FC236}">
                <a16:creationId xmlns:a16="http://schemas.microsoft.com/office/drawing/2014/main" id="{4C34B689-97FC-3019-AAE0-42963EDC8FC7}"/>
              </a:ext>
            </a:extLst>
          </p:cNvPr>
          <p:cNvSpPr txBox="1"/>
          <p:nvPr/>
        </p:nvSpPr>
        <p:spPr>
          <a:xfrm>
            <a:off x="1679909" y="4428435"/>
            <a:ext cx="5320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WP </a:t>
            </a: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798F6806-7683-075A-9F9D-0DF0DAA45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193204" y="4870700"/>
            <a:ext cx="671984" cy="671984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0FF889DC-9DFD-D053-D431-103A1B156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90" y="4864042"/>
            <a:ext cx="666934" cy="666934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E8A70313-6121-A1A9-8484-AF01532E7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3778" y="4785310"/>
            <a:ext cx="685679" cy="685679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7E876DDE-DBF9-A110-ADA2-2C2D17B4C6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0645" y="4864042"/>
            <a:ext cx="685680" cy="685680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566BAE42-C47E-1AC9-A8F1-B974D1E4575F}"/>
              </a:ext>
            </a:extLst>
          </p:cNvPr>
          <p:cNvSpPr txBox="1"/>
          <p:nvPr/>
        </p:nvSpPr>
        <p:spPr>
          <a:xfrm>
            <a:off x="666927" y="5615745"/>
            <a:ext cx="31301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>
                <a:solidFill>
                  <a:srgbClr val="FFC000"/>
                </a:solidFill>
              </a:rPr>
              <a:t>Focus</a:t>
            </a:r>
            <a:r>
              <a:rPr lang="zh-CN" altLang="en-US" sz="1800" b="1" dirty="0">
                <a:solidFill>
                  <a:srgbClr val="FFC000"/>
                </a:solidFill>
              </a:rPr>
              <a:t> </a:t>
            </a:r>
            <a:r>
              <a:rPr lang="en-US" altLang="zh-CN" sz="1800" b="1" dirty="0">
                <a:solidFill>
                  <a:srgbClr val="FFC000"/>
                </a:solidFill>
              </a:rPr>
              <a:t>on</a:t>
            </a:r>
            <a:r>
              <a:rPr lang="zh-CN" altLang="en-US" sz="1800" b="1" dirty="0">
                <a:solidFill>
                  <a:srgbClr val="FFC000"/>
                </a:solidFill>
              </a:rPr>
              <a:t> </a:t>
            </a:r>
            <a:r>
              <a:rPr lang="en-US" altLang="zh-CN" b="1" dirty="0">
                <a:solidFill>
                  <a:srgbClr val="FFC000"/>
                </a:solidFill>
              </a:rPr>
              <a:t>Energy</a:t>
            </a:r>
            <a:r>
              <a:rPr lang="zh-CN" altLang="en-US" b="1" dirty="0">
                <a:solidFill>
                  <a:srgbClr val="FFC000"/>
                </a:solidFill>
              </a:rPr>
              <a:t> </a:t>
            </a:r>
            <a:r>
              <a:rPr lang="en-US" altLang="zh-CN" b="1" dirty="0">
                <a:solidFill>
                  <a:srgbClr val="FFC000"/>
                </a:solidFill>
              </a:rPr>
              <a:t>Applications</a:t>
            </a:r>
            <a:r>
              <a:rPr lang="zh-CN" altLang="en-US" b="1" dirty="0">
                <a:solidFill>
                  <a:srgbClr val="FFC000"/>
                </a:solidFill>
              </a:rPr>
              <a:t> </a:t>
            </a:r>
            <a:r>
              <a:rPr lang="en-US" altLang="zh-CN" b="1" dirty="0">
                <a:solidFill>
                  <a:srgbClr val="FFC000"/>
                </a:solidFill>
              </a:rPr>
              <a:t>and</a:t>
            </a:r>
            <a:r>
              <a:rPr lang="zh-CN" altLang="en-US" b="1" dirty="0">
                <a:solidFill>
                  <a:srgbClr val="FFC000"/>
                </a:solidFill>
              </a:rPr>
              <a:t> </a:t>
            </a:r>
            <a:r>
              <a:rPr lang="en-US" altLang="zh-CN" b="1" dirty="0">
                <a:solidFill>
                  <a:srgbClr val="FFC000"/>
                </a:solidFill>
              </a:rPr>
              <a:t>Devices</a:t>
            </a:r>
            <a:endParaRPr lang="zh-SG" altLang="en-US" dirty="0"/>
          </a:p>
        </p:txBody>
      </p:sp>
      <p:sp>
        <p:nvSpPr>
          <p:cNvPr id="21" name="文本框 50">
            <a:extLst>
              <a:ext uri="{FF2B5EF4-FFF2-40B4-BE49-F238E27FC236}">
                <a16:creationId xmlns:a16="http://schemas.microsoft.com/office/drawing/2014/main" id="{676FC238-959F-52B3-A418-6CD679569780}"/>
              </a:ext>
            </a:extLst>
          </p:cNvPr>
          <p:cNvSpPr txBox="1"/>
          <p:nvPr/>
        </p:nvSpPr>
        <p:spPr>
          <a:xfrm>
            <a:off x="3987064" y="5828322"/>
            <a:ext cx="31301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>
                <a:solidFill>
                  <a:srgbClr val="FFC000"/>
                </a:solidFill>
              </a:rPr>
              <a:t>Focus</a:t>
            </a:r>
            <a:r>
              <a:rPr lang="zh-CN" altLang="en-US" sz="1800" b="1" dirty="0">
                <a:solidFill>
                  <a:srgbClr val="FFC000"/>
                </a:solidFill>
              </a:rPr>
              <a:t> </a:t>
            </a:r>
            <a:r>
              <a:rPr lang="en-US" altLang="zh-CN" sz="1800" b="1" dirty="0">
                <a:solidFill>
                  <a:srgbClr val="FFC000"/>
                </a:solidFill>
              </a:rPr>
              <a:t>on</a:t>
            </a:r>
            <a:r>
              <a:rPr lang="zh-CN" altLang="en-US" sz="1800" b="1" dirty="0">
                <a:solidFill>
                  <a:srgbClr val="FFC000"/>
                </a:solidFill>
              </a:rPr>
              <a:t> </a:t>
            </a:r>
            <a:r>
              <a:rPr lang="en-US" altLang="zh-CN" sz="1800" b="1" dirty="0">
                <a:solidFill>
                  <a:srgbClr val="FFC000"/>
                </a:solidFill>
              </a:rPr>
              <a:t>System Risk Control and Resilience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323110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CEF6B-C31B-4DAF-583F-6D93A4AB7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E4B45-EB08-7439-8FAA-3C7B263B8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327" y="253258"/>
            <a:ext cx="11017405" cy="921026"/>
          </a:xfrm>
        </p:spPr>
        <p:txBody>
          <a:bodyPr>
            <a:normAutofit fontScale="90000"/>
          </a:bodyPr>
          <a:lstStyle/>
          <a:p>
            <a:r>
              <a:rPr lang="en-SG" dirty="0">
                <a:solidFill>
                  <a:schemeClr val="accent2">
                    <a:lumMod val="75000"/>
                  </a:schemeClr>
                </a:solidFill>
              </a:rPr>
              <a:t>WP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&amp;</a:t>
            </a:r>
            <a:r>
              <a:rPr lang="en-SG" altLang="zh-CN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2: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AI-driven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SG" altLang="zh-SG" dirty="0">
                <a:solidFill>
                  <a:schemeClr val="accent2">
                    <a:lumMod val="75000"/>
                  </a:schemeClr>
                </a:solidFill>
              </a:rPr>
              <a:t>Management for Digital Energy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Assets</a:t>
            </a:r>
            <a:br>
              <a:rPr lang="en-SG" altLang="zh-SG" dirty="0"/>
            </a:b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E3FF754-A777-CE75-2341-9FC7A8A52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EAB110-4E61-98E3-F947-62252BAA3FC9}"/>
              </a:ext>
            </a:extLst>
          </p:cNvPr>
          <p:cNvSpPr txBox="1"/>
          <p:nvPr/>
        </p:nvSpPr>
        <p:spPr>
          <a:xfrm>
            <a:off x="976653" y="1360270"/>
            <a:ext cx="10851074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WP</a:t>
            </a:r>
            <a:r>
              <a:rPr lang="en-US" altLang="zh-CN" b="1" dirty="0"/>
              <a:t>1</a:t>
            </a:r>
            <a:r>
              <a:rPr lang="en-US" b="1" dirty="0"/>
              <a:t>: AI-Driven </a:t>
            </a:r>
            <a:r>
              <a:rPr lang="en-US" altLang="zh-CN" b="1" dirty="0"/>
              <a:t>Prediction</a:t>
            </a:r>
            <a:r>
              <a:rPr lang="zh-CN" altLang="en-US" b="1" dirty="0"/>
              <a:t> </a:t>
            </a:r>
            <a:r>
              <a:rPr lang="en-US" altLang="zh-CN" b="1" dirty="0"/>
              <a:t>Models</a:t>
            </a:r>
            <a:r>
              <a:rPr lang="zh-CN" altLang="en-US" b="1" dirty="0"/>
              <a:t> </a:t>
            </a:r>
            <a:r>
              <a:rPr lang="en-US" altLang="zh-CN" b="1" dirty="0"/>
              <a:t>and</a:t>
            </a:r>
            <a:r>
              <a:rPr lang="zh-CN" altLang="en-US" b="1" dirty="0"/>
              <a:t> </a:t>
            </a:r>
            <a:r>
              <a:rPr lang="en-US" altLang="zh-CN" b="1" dirty="0"/>
              <a:t>Optimization</a:t>
            </a:r>
            <a:r>
              <a:rPr lang="zh-CN" altLang="en-US" b="1" dirty="0"/>
              <a:t> </a:t>
            </a:r>
            <a:r>
              <a:rPr lang="en-US" altLang="zh-CN" b="1" dirty="0"/>
              <a:t>for</a:t>
            </a:r>
            <a:r>
              <a:rPr lang="zh-CN" altLang="en-US" b="1" dirty="0"/>
              <a:t> </a:t>
            </a:r>
            <a:r>
              <a:rPr lang="en-US" altLang="zh-CN" b="1" dirty="0"/>
              <a:t>Energy</a:t>
            </a:r>
            <a:r>
              <a:rPr lang="zh-CN" altLang="en-US" b="1" dirty="0"/>
              <a:t> </a:t>
            </a:r>
            <a:r>
              <a:rPr lang="en-US" altLang="zh-CN" b="1" dirty="0"/>
              <a:t>Devices</a:t>
            </a:r>
            <a:r>
              <a:rPr lang="zh-CN" altLang="en-US" b="1" dirty="0"/>
              <a:t> </a:t>
            </a:r>
            <a:r>
              <a:rPr lang="en-US" altLang="zh-CN" b="1" dirty="0"/>
              <a:t>and</a:t>
            </a:r>
            <a:r>
              <a:rPr lang="zh-CN" altLang="en-US" b="1" dirty="0"/>
              <a:t> </a:t>
            </a:r>
            <a:r>
              <a:rPr lang="en-US" altLang="zh-CN" b="1" dirty="0"/>
              <a:t>Power</a:t>
            </a:r>
            <a:r>
              <a:rPr lang="zh-CN" altLang="en-US" b="1" dirty="0"/>
              <a:t> </a:t>
            </a:r>
            <a:r>
              <a:rPr lang="en-US" altLang="zh-CN" b="1" dirty="0"/>
              <a:t>Systems</a:t>
            </a:r>
            <a:endParaRPr lang="en-US" b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Importance</a:t>
            </a:r>
            <a:r>
              <a:rPr lang="zh-CN" altLang="en-US" sz="1400" dirty="0"/>
              <a:t> </a:t>
            </a:r>
            <a:r>
              <a:rPr lang="en-US" altLang="zh-CN" sz="1400" dirty="0"/>
              <a:t>—</a:t>
            </a:r>
            <a:r>
              <a:rPr lang="zh-CN" altLang="en-US" sz="1400" dirty="0"/>
              <a:t> </a:t>
            </a:r>
            <a:r>
              <a:rPr lang="en-US" altLang="zh-CN" sz="1400" dirty="0"/>
              <a:t>Intelligent</a:t>
            </a:r>
            <a:r>
              <a:rPr lang="zh-CN" altLang="en-US" sz="1400" dirty="0"/>
              <a:t> </a:t>
            </a:r>
            <a:r>
              <a:rPr lang="en-US" altLang="zh-CN" sz="1400" dirty="0"/>
              <a:t>AI</a:t>
            </a:r>
            <a:r>
              <a:rPr lang="zh-CN" altLang="en-US" sz="1400" dirty="0"/>
              <a:t> </a:t>
            </a:r>
            <a:r>
              <a:rPr lang="en-US" altLang="zh-CN" sz="1400" dirty="0"/>
              <a:t>models</a:t>
            </a:r>
            <a:r>
              <a:rPr lang="zh-CN" altLang="en-US" sz="1400" dirty="0"/>
              <a:t> </a:t>
            </a:r>
            <a:r>
              <a:rPr lang="en-US" altLang="zh-CN" sz="1400" dirty="0"/>
              <a:t>that</a:t>
            </a:r>
            <a:r>
              <a:rPr lang="zh-CN" altLang="en-US" sz="1400" dirty="0"/>
              <a:t> </a:t>
            </a:r>
            <a:r>
              <a:rPr lang="en-US" altLang="zh-CN" sz="1400" dirty="0"/>
              <a:t>empower</a:t>
            </a:r>
            <a:r>
              <a:rPr lang="zh-CN" altLang="en-US" sz="1400" dirty="0"/>
              <a:t> </a:t>
            </a:r>
            <a:r>
              <a:rPr lang="en-US" altLang="zh-CN" sz="1400" dirty="0"/>
              <a:t>autonomous</a:t>
            </a:r>
            <a:r>
              <a:rPr lang="zh-CN" altLang="en-US" sz="1400" dirty="0"/>
              <a:t> </a:t>
            </a:r>
            <a:r>
              <a:rPr lang="en-US" altLang="zh-CN" sz="1400" dirty="0"/>
              <a:t>renewable</a:t>
            </a:r>
            <a:r>
              <a:rPr lang="zh-CN" altLang="en-US" sz="1400" dirty="0"/>
              <a:t> </a:t>
            </a:r>
            <a:r>
              <a:rPr lang="en-US" altLang="zh-CN" sz="1400" dirty="0"/>
              <a:t>generation</a:t>
            </a:r>
            <a:r>
              <a:rPr lang="zh-CN" altLang="en-US" sz="1400" dirty="0"/>
              <a:t> </a:t>
            </a:r>
            <a:r>
              <a:rPr lang="en-US" altLang="zh-CN" sz="1400" dirty="0"/>
              <a:t>and</a:t>
            </a:r>
            <a:r>
              <a:rPr lang="zh-CN" altLang="en-US" sz="1400" dirty="0"/>
              <a:t> </a:t>
            </a:r>
            <a:r>
              <a:rPr lang="en-US" altLang="zh-CN" sz="1400" dirty="0"/>
              <a:t>load</a:t>
            </a:r>
            <a:r>
              <a:rPr lang="zh-CN" altLang="en-US" sz="1400" dirty="0"/>
              <a:t> </a:t>
            </a:r>
            <a:r>
              <a:rPr lang="en-US" altLang="zh-CN" sz="1400" dirty="0"/>
              <a:t>forecast</a:t>
            </a:r>
            <a:r>
              <a:rPr lang="zh-CN" altLang="en-US" sz="1400" dirty="0"/>
              <a:t> </a:t>
            </a:r>
            <a:r>
              <a:rPr lang="en-US" altLang="zh-CN" sz="1400" dirty="0"/>
              <a:t>to</a:t>
            </a:r>
            <a:r>
              <a:rPr lang="zh-CN" altLang="en-US" sz="1400" dirty="0"/>
              <a:t> </a:t>
            </a:r>
            <a:r>
              <a:rPr lang="en-US" altLang="zh-CN" sz="1400" dirty="0"/>
              <a:t>further</a:t>
            </a:r>
            <a:r>
              <a:rPr lang="zh-CN" altLang="en-US" sz="1400" dirty="0"/>
              <a:t> </a:t>
            </a:r>
            <a:r>
              <a:rPr lang="en-US" altLang="zh-CN" sz="1400" dirty="0"/>
              <a:t>enable</a:t>
            </a:r>
            <a:r>
              <a:rPr lang="zh-CN" altLang="en-US" sz="1400" dirty="0"/>
              <a:t> </a:t>
            </a:r>
            <a:r>
              <a:rPr lang="en-US" altLang="zh-CN" sz="1400" dirty="0"/>
              <a:t>smart</a:t>
            </a:r>
            <a:r>
              <a:rPr lang="zh-CN" altLang="en-US" sz="1400" dirty="0"/>
              <a:t> </a:t>
            </a:r>
            <a:r>
              <a:rPr lang="en-US" altLang="zh-CN" sz="1400" dirty="0"/>
              <a:t>operation</a:t>
            </a:r>
            <a:r>
              <a:rPr lang="zh-CN" altLang="en-US" sz="1400" dirty="0"/>
              <a:t> </a:t>
            </a:r>
            <a:r>
              <a:rPr lang="en-US" altLang="zh-CN" sz="1400" dirty="0"/>
              <a:t>schedule</a:t>
            </a:r>
            <a:r>
              <a:rPr lang="zh-CN" altLang="en-US" sz="1400" dirty="0"/>
              <a:t> </a:t>
            </a:r>
            <a:r>
              <a:rPr lang="en-US" altLang="zh-CN" sz="1400" dirty="0"/>
              <a:t>for</a:t>
            </a:r>
            <a:r>
              <a:rPr lang="zh-CN" altLang="en-US" sz="1400" dirty="0"/>
              <a:t> </a:t>
            </a:r>
            <a:r>
              <a:rPr lang="en-US" altLang="zh-CN" sz="1400" dirty="0"/>
              <a:t>profit</a:t>
            </a:r>
            <a:r>
              <a:rPr lang="zh-CN" altLang="en-US" sz="1400" dirty="0"/>
              <a:t> </a:t>
            </a:r>
            <a:r>
              <a:rPr lang="en-US" altLang="zh-CN" sz="1400" dirty="0"/>
              <a:t>maximization</a:t>
            </a:r>
            <a:r>
              <a:rPr lang="zh-CN" altLang="en-US" sz="1400" dirty="0"/>
              <a:t> </a:t>
            </a:r>
            <a:r>
              <a:rPr lang="en-US" altLang="zh-CN" sz="1400" dirty="0"/>
              <a:t>and</a:t>
            </a:r>
            <a:r>
              <a:rPr lang="zh-CN" altLang="en-US" sz="1400" dirty="0"/>
              <a:t> </a:t>
            </a:r>
            <a:r>
              <a:rPr lang="en-US" altLang="zh-CN" sz="1400" dirty="0"/>
              <a:t>accurate</a:t>
            </a:r>
            <a:r>
              <a:rPr lang="zh-CN" altLang="en-US" sz="1400" dirty="0"/>
              <a:t> </a:t>
            </a:r>
            <a:r>
              <a:rPr lang="en-US" altLang="zh-CN" sz="1400" dirty="0"/>
              <a:t>profit</a:t>
            </a:r>
            <a:r>
              <a:rPr lang="zh-CN" altLang="en-US" sz="1400" dirty="0"/>
              <a:t> </a:t>
            </a:r>
            <a:r>
              <a:rPr lang="en-US" altLang="zh-CN" sz="1400" dirty="0"/>
              <a:t>prediction</a:t>
            </a:r>
            <a:r>
              <a:rPr lang="en-US" sz="1400" dirty="0"/>
              <a:t>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/>
              <a:t>AI-driven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Probabilistic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Renewable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Generation/Load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consumption/Electricity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Price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Prediction</a:t>
            </a:r>
            <a:endParaRPr lang="en-US" sz="1600" b="1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/>
              <a:t>Physics-AI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Models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for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Energy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Devices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Modelling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(e.g.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inverter,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UPS)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/>
              <a:t>Bi-level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Optimization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and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Control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for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Devices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in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Power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Systems</a:t>
            </a:r>
            <a:endParaRPr lang="en-US" sz="1600" b="1" dirty="0"/>
          </a:p>
          <a:p>
            <a:endParaRPr lang="en-US" sz="1600" b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WP</a:t>
            </a:r>
            <a:r>
              <a:rPr lang="en-US" altLang="zh-CN" b="1" dirty="0"/>
              <a:t>2</a:t>
            </a:r>
            <a:r>
              <a:rPr lang="en-US" b="1" dirty="0"/>
              <a:t>: </a:t>
            </a:r>
            <a:r>
              <a:rPr lang="en-US" altLang="zh-CN" b="1" dirty="0"/>
              <a:t>Cloud</a:t>
            </a:r>
            <a:r>
              <a:rPr lang="zh-CN" altLang="en-US" b="1" dirty="0"/>
              <a:t> </a:t>
            </a:r>
            <a:r>
              <a:rPr lang="en-US" altLang="zh-CN" b="1" dirty="0"/>
              <a:t>Digital</a:t>
            </a:r>
            <a:r>
              <a:rPr lang="zh-CN" altLang="en-US" b="1" dirty="0"/>
              <a:t> </a:t>
            </a:r>
            <a:r>
              <a:rPr lang="en-US" altLang="zh-CN" b="1" dirty="0"/>
              <a:t>Twin</a:t>
            </a:r>
            <a:r>
              <a:rPr lang="zh-CN" altLang="en-US" b="1" dirty="0"/>
              <a:t> </a:t>
            </a:r>
            <a:r>
              <a:rPr lang="en-US" altLang="zh-CN" b="1" dirty="0"/>
              <a:t>Diagnostics</a:t>
            </a:r>
            <a:r>
              <a:rPr lang="zh-CN" altLang="en-US" b="1" dirty="0"/>
              <a:t> </a:t>
            </a:r>
            <a:r>
              <a:rPr lang="en-US" altLang="zh-CN" b="1" dirty="0"/>
              <a:t>and</a:t>
            </a:r>
            <a:r>
              <a:rPr lang="zh-CN" altLang="en-US" b="1" dirty="0"/>
              <a:t> </a:t>
            </a:r>
            <a:r>
              <a:rPr lang="en-US" altLang="zh-CN" b="1" dirty="0"/>
              <a:t>Predictive</a:t>
            </a:r>
            <a:r>
              <a:rPr lang="zh-CN" altLang="en-US" b="1" dirty="0"/>
              <a:t> </a:t>
            </a:r>
            <a:r>
              <a:rPr lang="en-US" altLang="zh-CN" b="1" dirty="0"/>
              <a:t>Maintenance</a:t>
            </a:r>
            <a:r>
              <a:rPr lang="zh-CN" altLang="en-US" b="1" dirty="0"/>
              <a:t> </a:t>
            </a:r>
            <a:r>
              <a:rPr lang="en-US" altLang="zh-CN" b="1" dirty="0"/>
              <a:t>for</a:t>
            </a:r>
            <a:r>
              <a:rPr lang="zh-CN" altLang="en-US" b="1" dirty="0"/>
              <a:t> </a:t>
            </a:r>
            <a:r>
              <a:rPr lang="en-US" altLang="zh-CN" b="1" dirty="0"/>
              <a:t>Energy</a:t>
            </a:r>
            <a:r>
              <a:rPr lang="zh-CN" altLang="en-US" b="1" dirty="0"/>
              <a:t> </a:t>
            </a:r>
            <a:r>
              <a:rPr lang="en-US" altLang="zh-CN" b="1" dirty="0"/>
              <a:t>Devices</a:t>
            </a:r>
            <a:r>
              <a:rPr lang="zh-CN" altLang="en-US" b="1" dirty="0"/>
              <a:t> </a:t>
            </a:r>
            <a:endParaRPr lang="en-US" b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Importance</a:t>
            </a:r>
            <a:r>
              <a:rPr lang="en-US" sz="1400" b="1" dirty="0"/>
              <a:t> </a:t>
            </a:r>
            <a:r>
              <a:rPr lang="en-US" altLang="zh-CN" sz="1400" b="1" dirty="0"/>
              <a:t>— </a:t>
            </a:r>
            <a:r>
              <a:rPr lang="en-US" altLang="zh-CN" sz="1400" dirty="0"/>
              <a:t>Cloud-based</a:t>
            </a:r>
            <a:r>
              <a:rPr lang="zh-CN" altLang="en-US" sz="1400" dirty="0"/>
              <a:t> </a:t>
            </a:r>
            <a:r>
              <a:rPr lang="en-US" altLang="zh-CN" sz="1400" dirty="0"/>
              <a:t>digital</a:t>
            </a:r>
            <a:r>
              <a:rPr lang="zh-CN" altLang="en-US" sz="1400" dirty="0"/>
              <a:t> </a:t>
            </a:r>
            <a:r>
              <a:rPr lang="en-US" altLang="zh-CN" sz="1400" dirty="0"/>
              <a:t>twin</a:t>
            </a:r>
            <a:r>
              <a:rPr lang="zh-CN" altLang="en-US" sz="1400" dirty="0"/>
              <a:t> </a:t>
            </a:r>
            <a:r>
              <a:rPr lang="en-US" altLang="zh-CN" sz="1400" dirty="0"/>
              <a:t>with</a:t>
            </a:r>
            <a:r>
              <a:rPr lang="zh-CN" altLang="en-US" sz="1400" dirty="0"/>
              <a:t> </a:t>
            </a:r>
            <a:r>
              <a:rPr lang="en-US" altLang="zh-CN" sz="1400" dirty="0"/>
              <a:t>edge</a:t>
            </a:r>
            <a:r>
              <a:rPr lang="zh-CN" altLang="en-US" sz="1400" dirty="0"/>
              <a:t> </a:t>
            </a:r>
            <a:r>
              <a:rPr lang="en-US" altLang="zh-CN" sz="1400" dirty="0"/>
              <a:t>intelligence</a:t>
            </a:r>
            <a:r>
              <a:rPr lang="zh-CN" altLang="en-US" sz="1400" dirty="0"/>
              <a:t> </a:t>
            </a:r>
            <a:r>
              <a:rPr lang="en-US" altLang="zh-CN" sz="1400" dirty="0"/>
              <a:t>to</a:t>
            </a:r>
            <a:r>
              <a:rPr lang="zh-CN" altLang="en-US" sz="1400" dirty="0"/>
              <a:t> </a:t>
            </a:r>
            <a:r>
              <a:rPr lang="en-US" altLang="zh-CN" sz="1400" dirty="0"/>
              <a:t>achieve</a:t>
            </a:r>
            <a:r>
              <a:rPr lang="zh-CN" altLang="en-US" sz="1400" dirty="0"/>
              <a:t> </a:t>
            </a:r>
            <a:r>
              <a:rPr lang="en-US" altLang="zh-CN" sz="1400" dirty="0"/>
              <a:t>safe</a:t>
            </a:r>
            <a:r>
              <a:rPr lang="zh-CN" altLang="en-US" sz="1400" dirty="0"/>
              <a:t> </a:t>
            </a:r>
            <a:r>
              <a:rPr lang="en-US" altLang="zh-CN" sz="1400" dirty="0"/>
              <a:t>and</a:t>
            </a:r>
            <a:r>
              <a:rPr lang="zh-CN" altLang="en-US" sz="1400" dirty="0"/>
              <a:t> </a:t>
            </a:r>
            <a:r>
              <a:rPr lang="en-US" altLang="zh-CN" sz="1400" dirty="0"/>
              <a:t>reliable</a:t>
            </a:r>
            <a:r>
              <a:rPr lang="zh-CN" altLang="en-US" sz="1400" dirty="0"/>
              <a:t> </a:t>
            </a:r>
            <a:r>
              <a:rPr lang="en-US" altLang="zh-CN" sz="1400" dirty="0"/>
              <a:t>operation</a:t>
            </a:r>
            <a:r>
              <a:rPr lang="zh-CN" altLang="en-US" sz="1400" dirty="0"/>
              <a:t> </a:t>
            </a:r>
            <a:r>
              <a:rPr lang="en-US" altLang="zh-CN" sz="1400" dirty="0"/>
              <a:t>for</a:t>
            </a:r>
            <a:r>
              <a:rPr lang="zh-CN" altLang="en-US" sz="1400" dirty="0"/>
              <a:t> </a:t>
            </a:r>
            <a:r>
              <a:rPr lang="en-US" altLang="zh-CN" sz="1400" dirty="0"/>
              <a:t>distributed</a:t>
            </a:r>
            <a:r>
              <a:rPr lang="zh-CN" altLang="en-US" sz="1400" dirty="0"/>
              <a:t> </a:t>
            </a:r>
            <a:r>
              <a:rPr lang="en-US" altLang="zh-CN" sz="1400" dirty="0"/>
              <a:t>devices</a:t>
            </a:r>
            <a:r>
              <a:rPr lang="zh-CN" altLang="en-US" sz="1400" dirty="0"/>
              <a:t> </a:t>
            </a:r>
            <a:r>
              <a:rPr lang="en-US" altLang="zh-CN" sz="1400" dirty="0"/>
              <a:t>and</a:t>
            </a:r>
            <a:r>
              <a:rPr lang="zh-CN" altLang="en-US" sz="1400" dirty="0"/>
              <a:t> </a:t>
            </a:r>
            <a:r>
              <a:rPr lang="en-US" altLang="zh-CN" sz="1400" dirty="0"/>
              <a:t>systems.</a:t>
            </a:r>
            <a:r>
              <a:rPr lang="zh-CN" altLang="en-US" sz="1400" dirty="0"/>
              <a:t> </a:t>
            </a:r>
            <a:r>
              <a:rPr lang="en-US" altLang="zh-CN" sz="1400" dirty="0"/>
              <a:t>This</a:t>
            </a:r>
            <a:r>
              <a:rPr lang="zh-CN" altLang="en-US" sz="1400" dirty="0"/>
              <a:t> </a:t>
            </a:r>
            <a:r>
              <a:rPr lang="en-US" altLang="zh-CN" sz="1400" dirty="0"/>
              <a:t>significantly</a:t>
            </a:r>
            <a:r>
              <a:rPr lang="zh-CN" altLang="en-US" sz="1400" dirty="0"/>
              <a:t> </a:t>
            </a:r>
            <a:r>
              <a:rPr lang="en-US" altLang="zh-CN" sz="1400" dirty="0"/>
              <a:t>contribute</a:t>
            </a:r>
            <a:r>
              <a:rPr lang="zh-CN" altLang="en-US" sz="1400" dirty="0"/>
              <a:t> </a:t>
            </a:r>
            <a:r>
              <a:rPr lang="en-US" altLang="zh-CN" sz="1400" dirty="0"/>
              <a:t>to</a:t>
            </a:r>
            <a:r>
              <a:rPr lang="zh-CN" altLang="en-US" sz="1400" dirty="0"/>
              <a:t> </a:t>
            </a:r>
            <a:r>
              <a:rPr lang="en-US" altLang="zh-CN" sz="1400" dirty="0"/>
              <a:t>reduce</a:t>
            </a:r>
            <a:r>
              <a:rPr lang="zh-CN" altLang="en-US" sz="1400" dirty="0"/>
              <a:t> </a:t>
            </a:r>
            <a:r>
              <a:rPr lang="en-US" altLang="zh-CN" sz="1400" dirty="0"/>
              <a:t>downtime,</a:t>
            </a:r>
            <a:r>
              <a:rPr lang="zh-CN" altLang="en-US" sz="1400" dirty="0"/>
              <a:t> </a:t>
            </a:r>
            <a:r>
              <a:rPr lang="en-US" altLang="zh-CN" sz="1400" dirty="0"/>
              <a:t>failure</a:t>
            </a:r>
            <a:r>
              <a:rPr lang="zh-CN" altLang="en-US" sz="1400" dirty="0"/>
              <a:t> </a:t>
            </a:r>
            <a:r>
              <a:rPr lang="en-US" altLang="zh-CN" sz="1400" dirty="0"/>
              <a:t>possibility</a:t>
            </a:r>
            <a:r>
              <a:rPr lang="zh-CN" altLang="en-US" sz="1400" dirty="0"/>
              <a:t> </a:t>
            </a:r>
            <a:r>
              <a:rPr lang="en-US" altLang="zh-CN" sz="1400" dirty="0"/>
              <a:t>and</a:t>
            </a:r>
            <a:r>
              <a:rPr lang="zh-CN" altLang="en-US" sz="1400" dirty="0"/>
              <a:t> </a:t>
            </a:r>
            <a:r>
              <a:rPr lang="en-US" altLang="zh-CN" sz="1400" dirty="0"/>
              <a:t>corresponding</a:t>
            </a:r>
            <a:r>
              <a:rPr lang="zh-CN" altLang="en-US" sz="1400" dirty="0"/>
              <a:t> </a:t>
            </a:r>
            <a:r>
              <a:rPr lang="en-US" altLang="zh-CN" sz="1400" dirty="0"/>
              <a:t>financial</a:t>
            </a:r>
            <a:r>
              <a:rPr lang="zh-CN" altLang="en-US" sz="1400" dirty="0"/>
              <a:t> </a:t>
            </a:r>
            <a:r>
              <a:rPr lang="en-US" altLang="zh-CN" sz="1400" dirty="0"/>
              <a:t>losses.</a:t>
            </a:r>
            <a:endParaRPr lang="en-US" sz="1400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/>
              <a:t>Physics-AI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Digital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Twin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on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Cloud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for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Device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Health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State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Diagnostics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with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Self-evolving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Capabilities.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/>
              <a:t>Early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Warning,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Failure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Forecast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and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Smart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Predictive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Maintenance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Schedule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using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Probabilistic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AI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models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/>
              <a:t>Lightweight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Edge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Computing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Models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for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Offline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and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Fast-response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Device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Safety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Management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b="1" dirty="0"/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688388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0A1A9C-0DFC-DD5F-6639-86C2F9DFD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0D46BF09-FE7A-CAA2-443E-F716BBF47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2FC150-9B71-C5A7-257A-0160A78F4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653" y="360856"/>
            <a:ext cx="11215347" cy="921026"/>
          </a:xfrm>
        </p:spPr>
        <p:txBody>
          <a:bodyPr>
            <a:normAutofit fontScale="90000"/>
          </a:bodyPr>
          <a:lstStyle/>
          <a:p>
            <a:r>
              <a:rPr lang="en-SG" dirty="0"/>
              <a:t>WP 3</a:t>
            </a:r>
            <a:r>
              <a:rPr lang="zh-CN" altLang="en-US" dirty="0"/>
              <a:t> </a:t>
            </a:r>
            <a:r>
              <a:rPr lang="en-SG" altLang="zh-CN" dirty="0"/>
              <a:t>&amp; 4</a:t>
            </a:r>
            <a:r>
              <a:rPr lang="zh-CN" altLang="en-US" dirty="0"/>
              <a:t>： </a:t>
            </a:r>
            <a:r>
              <a:rPr lang="en-US" dirty="0"/>
              <a:t>AI &amp; Simulation for Risk and Decision Signals in Constrained Energy Systems</a:t>
            </a:r>
            <a:br>
              <a:rPr lang="en-US" dirty="0"/>
            </a:br>
            <a:endParaRPr lang="en-US" dirty="0"/>
          </a:p>
        </p:txBody>
      </p:sp>
      <p:sp>
        <p:nvSpPr>
          <p:cNvPr id="17" name="Isosceles Triangle 9">
            <a:extLst>
              <a:ext uri="{FF2B5EF4-FFF2-40B4-BE49-F238E27FC236}">
                <a16:creationId xmlns:a16="http://schemas.microsoft.com/office/drawing/2014/main" id="{219CDB1A-07B3-089A-945C-1C50AAE62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BB9AF1F6-7259-2B79-FF7E-A584D18A5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BE7DF2A-8CD2-81FA-F61A-44894A10B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F1136E-B94A-29C7-D842-B6FFD82FCD63}"/>
              </a:ext>
            </a:extLst>
          </p:cNvPr>
          <p:cNvSpPr txBox="1"/>
          <p:nvPr/>
        </p:nvSpPr>
        <p:spPr>
          <a:xfrm>
            <a:off x="955069" y="1642738"/>
            <a:ext cx="1063255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WP3: AI-Driven Performance Dynamics and Risk Analysis in</a:t>
            </a:r>
            <a:r>
              <a:rPr lang="zh-CN" altLang="en-US" b="1" dirty="0"/>
              <a:t> </a:t>
            </a:r>
            <a:r>
              <a:rPr lang="en-US" altLang="zh-CN" b="1" dirty="0"/>
              <a:t>Blockchain-Supported</a:t>
            </a:r>
            <a:r>
              <a:rPr lang="en-US" b="1" dirty="0"/>
              <a:t> Energy Systems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Importance</a:t>
            </a:r>
            <a:r>
              <a:rPr lang="zh-CN" altLang="en-US" sz="1400" dirty="0"/>
              <a:t> </a:t>
            </a:r>
            <a:r>
              <a:rPr lang="en-US" altLang="zh-CN" sz="1400" dirty="0"/>
              <a:t>—</a:t>
            </a:r>
            <a:r>
              <a:rPr lang="zh-CN" altLang="en-US" sz="1400" dirty="0"/>
              <a:t> </a:t>
            </a:r>
            <a:r>
              <a:rPr lang="en-US" sz="1400" dirty="0"/>
              <a:t>Large-scale energy asset programs require a deep understanding of performance</a:t>
            </a:r>
            <a:r>
              <a:rPr lang="zh-CN" altLang="en-US" sz="1400" dirty="0"/>
              <a:t> </a:t>
            </a:r>
            <a:r>
              <a:rPr lang="en-US" sz="1400" dirty="0"/>
              <a:t>variability and downside risk under uncertainty, rather than point predictions or deterministic assumptions.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AI-Based Distributional Performance Analysis (Multi-Source Learning)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ML-Enabled Quality-Aware Aggregation and Benchmarking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AI-Assisted Rule Learning for Auditable Risk Mitigation</a:t>
            </a:r>
            <a:endParaRPr lang="en-US" sz="1400" b="1" dirty="0"/>
          </a:p>
          <a:p>
            <a:endParaRPr lang="en-US" sz="1600" b="1" dirty="0"/>
          </a:p>
          <a:p>
            <a:endParaRPr lang="en-US" sz="1600" b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WP4: Simulation- and AI-Based Allocation and Valuation Signals under Restricted Participation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Importance</a:t>
            </a:r>
            <a:r>
              <a:rPr lang="en-US" sz="1400" b="1" dirty="0"/>
              <a:t> </a:t>
            </a:r>
            <a:r>
              <a:rPr lang="en-US" altLang="zh-CN" sz="1400" b="1" dirty="0"/>
              <a:t>— </a:t>
            </a:r>
            <a:r>
              <a:rPr lang="en-US" sz="1400" dirty="0"/>
              <a:t>Under compliance or governance constraints, conventional market-based signals become unreliable. Robust allocation logic and valuation signals must be derived from system behavior rather than unrestricted interaction.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Simulation- and AI-Based Valuation Stability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LLM-Based Compliance Interpretation and Audit Intelligence</a:t>
            </a:r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19369965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12540</TotalTime>
  <Words>408</Words>
  <Application>Microsoft Macintosh PowerPoint</Application>
  <PresentationFormat>Widescreen</PresentationFormat>
  <Paragraphs>54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Trebuchet MS</vt:lpstr>
      <vt:lpstr>Wingdings 3</vt:lpstr>
      <vt:lpstr>Facet</vt:lpstr>
      <vt:lpstr>Custom Design</vt:lpstr>
      <vt:lpstr>Overall Framework and Project Significance</vt:lpstr>
      <vt:lpstr>WP 1 &amp; 2: AI-driven Management for Digital Energy Assets </vt:lpstr>
      <vt:lpstr>WP 3 &amp; 4： AI &amp; Simulation for Risk and Decision Signals in Constrained Energy Systems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Observability of Information Acquisition within Financial Markets: Empirical Study with Experiments</dc:title>
  <dc:creator>Ma Mengzhong (SME)</dc:creator>
  <cp:lastModifiedBy>#MA MENGZHONG#</cp:lastModifiedBy>
  <cp:revision>34</cp:revision>
  <dcterms:created xsi:type="dcterms:W3CDTF">2023-12-27T06:39:26Z</dcterms:created>
  <dcterms:modified xsi:type="dcterms:W3CDTF">2026-01-21T08:55:20Z</dcterms:modified>
</cp:coreProperties>
</file>