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98" r:id="rId1"/>
    <p:sldMasterId id="2147483715" r:id="rId2"/>
  </p:sldMasterIdLst>
  <p:notesMasterIdLst>
    <p:notesMasterId r:id="rId5"/>
  </p:notesMasterIdLst>
  <p:handoutMasterIdLst>
    <p:handoutMasterId r:id="rId6"/>
  </p:handoutMasterIdLst>
  <p:sldIdLst>
    <p:sldId id="259" r:id="rId3"/>
    <p:sldId id="284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1EEE6F-16F0-3441-892A-1A1EE4CF95C8}">
          <p14:sldIdLst/>
        </p14:section>
        <p14:section name="Untitled Section" id="{03F32F2C-3603-BD44-B9B8-859B8203F6DD}">
          <p14:sldIdLst>
            <p14:sldId id="259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CA71BE-ADB1-7479-23A1-092261895838}" name="Bao Te (Assoc Prof)" initials="TB" userId="S::baote@staff.main.ntu.edu.sg::76dc7591-3d9d-4271-96ac-8cdd45f588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41"/>
    <p:restoredTop sz="97264"/>
  </p:normalViewPr>
  <p:slideViewPr>
    <p:cSldViewPr snapToGrid="0">
      <p:cViewPr varScale="1">
        <p:scale>
          <a:sx n="123" d="100"/>
          <a:sy n="123" d="100"/>
        </p:scale>
        <p:origin x="216" y="2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814916-828C-8D19-0B7E-DC60CB7C91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8CE18-78B8-7F40-DF56-30E288DDDF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4CDD5-D1C1-1445-B516-A4647083DB4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2612B-7AA0-111C-BFB3-00F3657492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9AB61-E92E-61C7-A532-C9DBDEC544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321C5-3185-F14D-BD89-DC4503255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315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BE4BD-8E31-364C-93C7-ED3743C7560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32B2B-CD96-AE40-8468-A2BD35B75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25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42B8-F8DC-D54A-8391-171F8954DA25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6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6201-9B43-CB4F-A325-3EFF182680A4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647" y="6041361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8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B1BA-BE95-BC40-BED7-34D6A130A6BF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6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2F2-6B66-B54F-A376-F4FE30A0955C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8B09-8668-A74D-BB01-0D14AB3DF6C7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0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4A28C-DA0E-DF40-B67D-C42CDFB7E246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66351" y="6047049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79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FBD76-7341-1B4A-99DF-5BF2C4EFF194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02927" y="6028761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693B-3273-5543-AEE9-4A9FE2BDF249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E0A2-9C76-2748-9414-8CD6C8AE42A3}" type="datetime1">
              <a:rPr lang="en-SG" smtClean="0"/>
              <a:t>21/1/26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B177-FAA6-5540-9F38-EDB2EEC54DA2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0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A5D7-3D60-0F4A-A90E-1902BAFDFD4D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3231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A31F-2836-754E-8018-01C8CA688DA9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79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87C8-B12B-F143-BCED-8F0131D81F44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48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ED56-2973-D549-8EE3-DE214AFFE0E0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79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18EFD-1482-4F47-B1E7-79596AD9D257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722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AF2E-346C-A841-9B9E-913C7DDA0185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02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2F70-797B-5C21-4AC9-7C89BA509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43E35-871A-5EDA-B94C-E0BE4E494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56CE-ABF4-11D4-F221-AB1D1CE4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D4A5-4A9E-1B5F-2948-88DE4EA9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AC45F-B08E-0874-BBE5-6E8B2994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4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96F3-EA76-C032-E22A-4668F8FD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A9F5E-0585-72D6-CB91-D24DD5CE0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8438-0700-7CFA-270A-DB8B0A5A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FA8EE-788E-072C-289F-E50F708D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FACF3-0C99-6F2B-8597-6A4777C6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5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2370-E82D-F7A1-F7A2-FA351318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6ED6-924C-50C7-E8E5-EDBEE44E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A3A1-B03F-96A3-D6C9-9306E5ED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AE6D-5D3F-D612-C9A5-68417FE3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C2593-A5E5-3532-2896-137C6EFE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97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6DCA-E6C0-6205-3FB5-3897A385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00728-E1A2-98BE-6364-9D8EA7654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CE702-3C1F-8634-9A61-CE879D3E3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99BB3-6967-F0D1-5D18-784D8D35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947F0-0E5F-FD55-27FC-479ABE6E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5462E-430B-63C8-CF7B-ED7075B9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78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F68C-4AD4-01A4-13E1-E1B6C865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65EBE-1862-2475-5318-8BB5F172B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720C8-2BCD-51F0-3CDE-47008B9B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196E1-19B2-169D-25B1-4C32C8835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FF725-DBA8-CD99-8E50-05FB9754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AA9C1-63E5-5EFF-2E99-99D22250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6D6F1-CCFD-F42C-AF40-A1BB70F1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4394A-6DB6-AF43-42F0-2E33556F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30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F432-CD69-4612-73E4-297E8470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8BFC6-8B31-14D2-291B-D32CA0E9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FFD01-9ED7-F1AB-2FD0-EF232FC8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EAFA8-18CD-2089-C732-41876743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270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93678-2F98-DEEC-F20E-769152A0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10D47-3C09-B833-6F31-6C8DE470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C7F1F-6316-968C-F29B-33BD5E30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68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B24E-E6FF-5760-B796-ED2A46DD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EB71-3245-7DF6-544D-6DF781CE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B3900-059C-2013-9D43-8BBA3130D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230C8-4B65-CF3D-44B2-7CD20EFD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C818D-CF16-F922-E9FF-ED015526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ACC66-E44C-E3AF-9AC3-718EEC05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6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8C94-08B5-DB35-7201-32D94AB8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E265B-422C-AD2C-CD04-A2099805C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6B5B2-595B-B87D-9173-9195186BF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CF24A-144D-F4D3-90B4-7E956295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00C31-D775-43A8-AC3A-CB1D370E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D286A-05F5-C4D0-8F97-33990C67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F18C-0889-029F-C46A-3607227B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80A3C-37B3-BB2C-3942-2A2FD1AAF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C6873-8B25-1AEA-07EC-21EDF1A4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E18D-A45D-09EC-0684-CC340A55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F5F9E-C21E-8E67-D649-B22DCBE7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6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D004B-13B7-FB50-C8D5-BEFABAF0D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8D3D-438F-B075-08A8-46BAABCF8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811D8-C027-0EA6-BCF3-91A1A12A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D9C83-D09B-F809-064B-59AC9FD8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03AF-6108-B6C4-C811-3CC9D756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4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8D8E7-88C2-F749-84AF-F1B71A432488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3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D5D22-29B9-9946-8C4F-78F5D796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347BD-9A80-EDF2-9963-B84FBD509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08ECF-8598-0A74-159A-BFF8E9EF0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197A4-D463-4762-D687-F44A27F1E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8296A-AE80-F864-508B-D846A6BC5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8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1" y="631350"/>
            <a:ext cx="9618033" cy="921026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Implementation and Challenges </a:t>
            </a:r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FE727-5592-260D-3F81-F076686D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0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A8978F-B4B1-90B0-2884-A8181D9F6C89}"/>
              </a:ext>
            </a:extLst>
          </p:cNvPr>
          <p:cNvSpPr/>
          <p:nvPr/>
        </p:nvSpPr>
        <p:spPr>
          <a:xfrm>
            <a:off x="842597" y="2135708"/>
            <a:ext cx="2119423" cy="14460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Inverter and Electricity Network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99634D-9230-9D76-8814-D8F7F848BA02}"/>
              </a:ext>
            </a:extLst>
          </p:cNvPr>
          <p:cNvSpPr/>
          <p:nvPr/>
        </p:nvSpPr>
        <p:spPr>
          <a:xfrm>
            <a:off x="4579548" y="2135708"/>
            <a:ext cx="2119423" cy="14460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Blockchain-Supporting Mechanism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123203-EEC8-727D-695E-6E55F3820505}"/>
              </a:ext>
            </a:extLst>
          </p:cNvPr>
          <p:cNvSpPr/>
          <p:nvPr/>
        </p:nvSpPr>
        <p:spPr>
          <a:xfrm>
            <a:off x="4430726" y="4777895"/>
            <a:ext cx="2653689" cy="12634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Participation-Constrained Mechanism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CADBF5E-E164-4E5B-1F11-B4A3681E35DA}"/>
              </a:ext>
            </a:extLst>
          </p:cNvPr>
          <p:cNvSpPr/>
          <p:nvPr/>
        </p:nvSpPr>
        <p:spPr>
          <a:xfrm>
            <a:off x="2962020" y="2791529"/>
            <a:ext cx="1569300" cy="176328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F2CD50-03C0-5E1B-CCD7-943364DA2C2D}"/>
              </a:ext>
            </a:extLst>
          </p:cNvPr>
          <p:cNvSpPr txBox="1"/>
          <p:nvPr/>
        </p:nvSpPr>
        <p:spPr>
          <a:xfrm>
            <a:off x="3442740" y="2891134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1B12027-230A-F2BD-DAF1-EB2F76EAA4FE}"/>
              </a:ext>
            </a:extLst>
          </p:cNvPr>
          <p:cNvSpPr/>
          <p:nvPr/>
        </p:nvSpPr>
        <p:spPr>
          <a:xfrm rot="5400000">
            <a:off x="5050835" y="4102912"/>
            <a:ext cx="1184717" cy="165251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50B87D-2387-CD64-9F24-7D73FF3A12A6}"/>
              </a:ext>
            </a:extLst>
          </p:cNvPr>
          <p:cNvSpPr txBox="1"/>
          <p:nvPr/>
        </p:nvSpPr>
        <p:spPr>
          <a:xfrm>
            <a:off x="5725819" y="3925016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E00FC7-4A01-46DB-25EE-9526D2279D84}"/>
              </a:ext>
            </a:extLst>
          </p:cNvPr>
          <p:cNvSpPr txBox="1"/>
          <p:nvPr/>
        </p:nvSpPr>
        <p:spPr>
          <a:xfrm>
            <a:off x="1400940" y="3429000"/>
            <a:ext cx="532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B58976-F443-18F1-E7CA-902C97076533}"/>
              </a:ext>
            </a:extLst>
          </p:cNvPr>
          <p:cNvSpPr txBox="1"/>
          <p:nvPr/>
        </p:nvSpPr>
        <p:spPr>
          <a:xfrm>
            <a:off x="3312385" y="3390320"/>
            <a:ext cx="594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1C094A-56CA-C048-F1A5-E9BA0B9EF8A4}"/>
              </a:ext>
            </a:extLst>
          </p:cNvPr>
          <p:cNvSpPr txBox="1"/>
          <p:nvPr/>
        </p:nvSpPr>
        <p:spPr>
          <a:xfrm>
            <a:off x="4586334" y="4013593"/>
            <a:ext cx="594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DA8B0C-6771-AA1C-7983-17D4C71DEC63}"/>
              </a:ext>
            </a:extLst>
          </p:cNvPr>
          <p:cNvSpPr/>
          <p:nvPr/>
        </p:nvSpPr>
        <p:spPr>
          <a:xfrm>
            <a:off x="634902" y="4633087"/>
            <a:ext cx="2530549" cy="1309407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 participants and regulations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C395B7-003A-A8BC-6245-6C26C4F37955}"/>
              </a:ext>
            </a:extLst>
          </p:cNvPr>
          <p:cNvSpPr txBox="1"/>
          <p:nvPr/>
        </p:nvSpPr>
        <p:spPr>
          <a:xfrm>
            <a:off x="7867328" y="3507051"/>
            <a:ext cx="428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SG" dirty="0"/>
          </a:p>
          <a:p>
            <a:r>
              <a:rPr lang="en-US" sz="1600" b="1" dirty="0"/>
              <a:t>AI-Driven Performance Dynamics and Risk Analysis in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Blockchain-Supported</a:t>
            </a:r>
            <a:r>
              <a:rPr lang="en-US" sz="1600" b="1" dirty="0"/>
              <a:t> Energy Systems</a:t>
            </a:r>
          </a:p>
          <a:p>
            <a:endParaRPr lang="en-US" sz="1600" b="1" dirty="0"/>
          </a:p>
          <a:p>
            <a:r>
              <a:rPr lang="en-US" sz="1600" b="1" dirty="0"/>
              <a:t>Simulation- and AI-Based Allocation and Valuation Signals under Restricted Participation</a:t>
            </a:r>
            <a:endParaRPr lang="en-US" sz="1600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EE8243-8261-A0BF-6870-CE59BE61A7EE}"/>
              </a:ext>
            </a:extLst>
          </p:cNvPr>
          <p:cNvSpPr/>
          <p:nvPr/>
        </p:nvSpPr>
        <p:spPr>
          <a:xfrm>
            <a:off x="7249666" y="2415356"/>
            <a:ext cx="4744412" cy="3410562"/>
          </a:xfrm>
          <a:prstGeom prst="round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CD2088-7BB4-C046-EA0B-200B260FA845}"/>
              </a:ext>
            </a:extLst>
          </p:cNvPr>
          <p:cNvSpPr txBox="1"/>
          <p:nvPr/>
        </p:nvSpPr>
        <p:spPr>
          <a:xfrm>
            <a:off x="7216726" y="1692767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Joint-Lab addresses the challenges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F72DA4-0D50-8CD0-8CCF-D9B42B6F023F}"/>
              </a:ext>
            </a:extLst>
          </p:cNvPr>
          <p:cNvSpPr/>
          <p:nvPr/>
        </p:nvSpPr>
        <p:spPr>
          <a:xfrm>
            <a:off x="7491254" y="2613212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5DBEB0-557F-B588-F3EF-A90C6EB11882}"/>
              </a:ext>
            </a:extLst>
          </p:cNvPr>
          <p:cNvSpPr/>
          <p:nvPr/>
        </p:nvSpPr>
        <p:spPr>
          <a:xfrm>
            <a:off x="3742371" y="3356027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992AFD-8430-46B9-9289-87E9499884DF}"/>
              </a:ext>
            </a:extLst>
          </p:cNvPr>
          <p:cNvSpPr/>
          <p:nvPr/>
        </p:nvSpPr>
        <p:spPr>
          <a:xfrm>
            <a:off x="5041176" y="3984198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AF7EE9-EE84-1A63-C19E-1BC79A092042}"/>
              </a:ext>
            </a:extLst>
          </p:cNvPr>
          <p:cNvSpPr/>
          <p:nvPr/>
        </p:nvSpPr>
        <p:spPr>
          <a:xfrm>
            <a:off x="1844555" y="3409204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120C46-F181-9BFE-EE83-EECACF90C240}"/>
              </a:ext>
            </a:extLst>
          </p:cNvPr>
          <p:cNvSpPr/>
          <p:nvPr/>
        </p:nvSpPr>
        <p:spPr>
          <a:xfrm>
            <a:off x="7486694" y="3332102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C8CC3C-CFAF-D69D-60B7-1B2C6CCB4C75}"/>
              </a:ext>
            </a:extLst>
          </p:cNvPr>
          <p:cNvSpPr/>
          <p:nvPr/>
        </p:nvSpPr>
        <p:spPr>
          <a:xfrm>
            <a:off x="7478048" y="4269630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9096FE-0596-6493-3B23-5B3A7430C627}"/>
              </a:ext>
            </a:extLst>
          </p:cNvPr>
          <p:cNvSpPr/>
          <p:nvPr/>
        </p:nvSpPr>
        <p:spPr>
          <a:xfrm>
            <a:off x="7486694" y="5212542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4E6F5-A083-A1C6-3704-799A779AFCD3}"/>
              </a:ext>
            </a:extLst>
          </p:cNvPr>
          <p:cNvSpPr txBox="1"/>
          <p:nvPr/>
        </p:nvSpPr>
        <p:spPr>
          <a:xfrm>
            <a:off x="3137878" y="5603940"/>
            <a:ext cx="594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E7C616-A158-B592-0236-F31D40CEAD0B}"/>
              </a:ext>
            </a:extLst>
          </p:cNvPr>
          <p:cNvSpPr/>
          <p:nvPr/>
        </p:nvSpPr>
        <p:spPr>
          <a:xfrm>
            <a:off x="3553258" y="5603940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311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A1A9C-0DFC-DD5F-6639-86C2F9DF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D46BF09-FE7A-CAA2-443E-F716BBF4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FC150-9B71-C5A7-257A-0160A78F4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631" y="219622"/>
            <a:ext cx="10064601" cy="921026"/>
          </a:xfrm>
        </p:spPr>
        <p:txBody>
          <a:bodyPr>
            <a:normAutofit/>
          </a:bodyPr>
          <a:lstStyle/>
          <a:p>
            <a:r>
              <a:rPr lang="en-SG" dirty="0"/>
              <a:t>WP 3</a:t>
            </a:r>
            <a:r>
              <a:rPr lang="zh-CN" altLang="en-US" dirty="0"/>
              <a:t> </a:t>
            </a:r>
            <a:r>
              <a:rPr lang="en-SG" altLang="zh-CN" dirty="0"/>
              <a:t>and 4</a:t>
            </a: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219CDB1A-07B3-089A-945C-1C50AAE62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BB9AF1F6-7259-2B79-FF7E-A584D18A5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BE7DF2A-8CD2-81FA-F61A-44894A10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1136E-B94A-29C7-D842-B6FFD82FCD63}"/>
              </a:ext>
            </a:extLst>
          </p:cNvPr>
          <p:cNvSpPr txBox="1"/>
          <p:nvPr/>
        </p:nvSpPr>
        <p:spPr>
          <a:xfrm>
            <a:off x="976653" y="1360270"/>
            <a:ext cx="10632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WP3: AI-Driven Performance Dynamics and Risk Analysis in</a:t>
            </a:r>
            <a:r>
              <a:rPr lang="zh-CN" altLang="en-US" b="1" dirty="0"/>
              <a:t> </a:t>
            </a:r>
            <a:r>
              <a:rPr lang="en-US" altLang="zh-CN" b="1" dirty="0"/>
              <a:t>Blockchain-Supported</a:t>
            </a:r>
            <a:r>
              <a:rPr lang="en-US" b="1" dirty="0"/>
              <a:t> Energy 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Importance</a:t>
            </a:r>
            <a:r>
              <a:rPr lang="zh-CN" altLang="en-US" sz="1400" dirty="0"/>
              <a:t> </a:t>
            </a:r>
            <a:r>
              <a:rPr lang="en-US" altLang="zh-CN" sz="1400" dirty="0"/>
              <a:t>—</a:t>
            </a:r>
            <a:r>
              <a:rPr lang="zh-CN" altLang="en-US" sz="1400" dirty="0"/>
              <a:t> </a:t>
            </a:r>
            <a:r>
              <a:rPr lang="en-US" sz="1400" dirty="0"/>
              <a:t>Large-scale energy asset programs require a deep understanding of performance</a:t>
            </a:r>
            <a:r>
              <a:rPr lang="zh-CN" altLang="en-US" sz="1400" dirty="0"/>
              <a:t> </a:t>
            </a:r>
            <a:r>
              <a:rPr lang="en-US" sz="1400" dirty="0"/>
              <a:t>variability and downside risk under uncertainty, rather than point predictions or deterministic assumptions.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AI-Based Distributional Performance Analysis (Multi-Source Learning)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ML-Enabled Quality-Aware Aggregation and Benchmarking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AI-Assisted Rule Learning for Auditable Risk Mitigation</a:t>
            </a:r>
            <a:endParaRPr lang="en-US" sz="1400" b="1" dirty="0"/>
          </a:p>
          <a:p>
            <a:endParaRPr lang="en-US" sz="1600" b="1" dirty="0"/>
          </a:p>
          <a:p>
            <a:endParaRPr lang="en-US" sz="1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WP4: Simulation- and AI-Based Allocation and Valuation Signals under Restricted Participation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Importance</a:t>
            </a:r>
            <a:r>
              <a:rPr lang="en-US" sz="1400" b="1" dirty="0"/>
              <a:t> </a:t>
            </a:r>
            <a:r>
              <a:rPr lang="en-US" altLang="zh-CN" sz="1400" b="1" dirty="0"/>
              <a:t>— </a:t>
            </a:r>
            <a:r>
              <a:rPr lang="en-US" sz="1400" dirty="0"/>
              <a:t>Under compliance or governance constraints, conventional market-based signals become unreliable. Robust allocation logic and valuation signals must be derived from system behavior rather than unrestricted interaction.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Simulation- and AI-Based Valuation Stability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LLM-Based Compliance Interpretation and Audit Intelligence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936996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12453</TotalTime>
  <Words>175</Words>
  <Application>Microsoft Macintosh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Components of Implementation and Challenges </vt:lpstr>
      <vt:lpstr>WP 3 and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of Information Acquisition within Financial Markets: Empirical Study with Experiments</dc:title>
  <dc:creator>Ma Mengzhong (SME)</dc:creator>
  <cp:lastModifiedBy>#MA MENGZHONG#</cp:lastModifiedBy>
  <cp:revision>31</cp:revision>
  <dcterms:created xsi:type="dcterms:W3CDTF">2023-12-27T06:39:26Z</dcterms:created>
  <dcterms:modified xsi:type="dcterms:W3CDTF">2026-01-21T07:22:57Z</dcterms:modified>
</cp:coreProperties>
</file>